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58" r:id="rId5"/>
    <p:sldId id="259" r:id="rId6"/>
    <p:sldId id="260" r:id="rId7"/>
    <p:sldId id="269" r:id="rId8"/>
    <p:sldId id="262" r:id="rId9"/>
    <p:sldId id="263" r:id="rId10"/>
    <p:sldId id="264" r:id="rId11"/>
    <p:sldId id="272" r:id="rId12"/>
    <p:sldId id="271" r:id="rId13"/>
    <p:sldId id="273" r:id="rId14"/>
    <p:sldId id="274" r:id="rId15"/>
    <p:sldId id="275" r:id="rId16"/>
    <p:sldId id="276" r:id="rId17"/>
    <p:sldId id="27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03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Semexa" userId="61db338c984ee874" providerId="LiveId" clId="{7A591C31-A345-47F3-A838-AB3BFE5BB29E}"/>
    <pc:docChg chg="undo redo custSel modSld">
      <pc:chgData name="Philip Semexa" userId="61db338c984ee874" providerId="LiveId" clId="{7A591C31-A345-47F3-A838-AB3BFE5BB29E}" dt="2026-06-04T23:40:49.626" v="60" actId="931"/>
      <pc:docMkLst>
        <pc:docMk/>
      </pc:docMkLst>
      <pc:sldChg chg="delSp modSp mod">
        <pc:chgData name="Philip Semexa" userId="61db338c984ee874" providerId="LiveId" clId="{7A591C31-A345-47F3-A838-AB3BFE5BB29E}" dt="2026-06-04T23:31:38.835" v="18" actId="20577"/>
        <pc:sldMkLst>
          <pc:docMk/>
          <pc:sldMk cId="3845341838" sldId="271"/>
        </pc:sldMkLst>
        <pc:spChg chg="mod">
          <ac:chgData name="Philip Semexa" userId="61db338c984ee874" providerId="LiveId" clId="{7A591C31-A345-47F3-A838-AB3BFE5BB29E}" dt="2026-06-04T23:31:38.835" v="18" actId="20577"/>
          <ac:spMkLst>
            <pc:docMk/>
            <pc:sldMk cId="3845341838" sldId="271"/>
            <ac:spMk id="21" creationId="{ECD01CBB-7570-DBFF-0576-47EC332BD929}"/>
          </ac:spMkLst>
        </pc:spChg>
        <pc:spChg chg="mod">
          <ac:chgData name="Philip Semexa" userId="61db338c984ee874" providerId="LiveId" clId="{7A591C31-A345-47F3-A838-AB3BFE5BB29E}" dt="2026-06-04T23:30:59.047" v="12" actId="14100"/>
          <ac:spMkLst>
            <pc:docMk/>
            <pc:sldMk cId="3845341838" sldId="271"/>
            <ac:spMk id="23" creationId="{27949731-575B-64BB-7EFB-BFFEFC4524B3}"/>
          </ac:spMkLst>
        </pc:spChg>
        <pc:spChg chg="del mod">
          <ac:chgData name="Philip Semexa" userId="61db338c984ee874" providerId="LiveId" clId="{7A591C31-A345-47F3-A838-AB3BFE5BB29E}" dt="2026-06-04T23:30:46.071" v="10" actId="478"/>
          <ac:spMkLst>
            <pc:docMk/>
            <pc:sldMk cId="3845341838" sldId="271"/>
            <ac:spMk id="24" creationId="{D90E1936-E46E-39C1-B5CA-8007551C2056}"/>
          </ac:spMkLst>
        </pc:spChg>
        <pc:spChg chg="mod">
          <ac:chgData name="Philip Semexa" userId="61db338c984ee874" providerId="LiveId" clId="{7A591C31-A345-47F3-A838-AB3BFE5BB29E}" dt="2026-06-04T23:31:38.269" v="17" actId="255"/>
          <ac:spMkLst>
            <pc:docMk/>
            <pc:sldMk cId="3845341838" sldId="271"/>
            <ac:spMk id="25" creationId="{94FFA087-DD28-6F74-AA50-39654C2A30F2}"/>
          </ac:spMkLst>
        </pc:spChg>
      </pc:sldChg>
      <pc:sldChg chg="modSp mod">
        <pc:chgData name="Philip Semexa" userId="61db338c984ee874" providerId="LiveId" clId="{7A591C31-A345-47F3-A838-AB3BFE5BB29E}" dt="2026-06-04T23:30:35.190" v="9" actId="255"/>
        <pc:sldMkLst>
          <pc:docMk/>
          <pc:sldMk cId="317779113" sldId="273"/>
        </pc:sldMkLst>
        <pc:spChg chg="mod">
          <ac:chgData name="Philip Semexa" userId="61db338c984ee874" providerId="LiveId" clId="{7A591C31-A345-47F3-A838-AB3BFE5BB29E}" dt="2026-06-04T23:30:35.190" v="9" actId="255"/>
          <ac:spMkLst>
            <pc:docMk/>
            <pc:sldMk cId="317779113" sldId="273"/>
            <ac:spMk id="4" creationId="{6E3FC769-6BC5-FECA-01DA-2FC62320F41A}"/>
          </ac:spMkLst>
        </pc:spChg>
      </pc:sldChg>
      <pc:sldChg chg="addSp delSp modSp mod">
        <pc:chgData name="Philip Semexa" userId="61db338c984ee874" providerId="LiveId" clId="{7A591C31-A345-47F3-A838-AB3BFE5BB29E}" dt="2026-06-04T23:40:49.626" v="60" actId="931"/>
        <pc:sldMkLst>
          <pc:docMk/>
          <pc:sldMk cId="3120077497" sldId="275"/>
        </pc:sldMkLst>
        <pc:picChg chg="del">
          <ac:chgData name="Philip Semexa" userId="61db338c984ee874" providerId="LiveId" clId="{7A591C31-A345-47F3-A838-AB3BFE5BB29E}" dt="2026-06-04T23:37:59.711" v="57" actId="478"/>
          <ac:picMkLst>
            <pc:docMk/>
            <pc:sldMk cId="3120077497" sldId="275"/>
            <ac:picMk id="3" creationId="{56A77B22-CCC2-A933-760C-DC21AA68D7BC}"/>
          </ac:picMkLst>
        </pc:picChg>
        <pc:picChg chg="add del mod">
          <ac:chgData name="Philip Semexa" userId="61db338c984ee874" providerId="LiveId" clId="{7A591C31-A345-47F3-A838-AB3BFE5BB29E}" dt="2026-06-04T23:40:40.432" v="59" actId="478"/>
          <ac:picMkLst>
            <pc:docMk/>
            <pc:sldMk cId="3120077497" sldId="275"/>
            <ac:picMk id="4" creationId="{318A7906-ADDC-EA5D-297A-2EEF799A6AED}"/>
          </ac:picMkLst>
        </pc:picChg>
        <pc:picChg chg="add mod">
          <ac:chgData name="Philip Semexa" userId="61db338c984ee874" providerId="LiveId" clId="{7A591C31-A345-47F3-A838-AB3BFE5BB29E}" dt="2026-06-04T23:40:49.626" v="60" actId="931"/>
          <ac:picMkLst>
            <pc:docMk/>
            <pc:sldMk cId="3120077497" sldId="275"/>
            <ac:picMk id="6" creationId="{36ACBA11-635B-0857-2E07-B61C5EAD145F}"/>
          </ac:picMkLst>
        </pc:picChg>
      </pc:sldChg>
      <pc:sldChg chg="modSp mod">
        <pc:chgData name="Philip Semexa" userId="61db338c984ee874" providerId="LiveId" clId="{7A591C31-A345-47F3-A838-AB3BFE5BB29E}" dt="2026-06-04T23:34:01.429" v="56" actId="20577"/>
        <pc:sldMkLst>
          <pc:docMk/>
          <pc:sldMk cId="0" sldId="277"/>
        </pc:sldMkLst>
        <pc:spChg chg="mod">
          <ac:chgData name="Philip Semexa" userId="61db338c984ee874" providerId="LiveId" clId="{7A591C31-A345-47F3-A838-AB3BFE5BB29E}" dt="2026-06-04T23:34:01.429" v="56" actId="20577"/>
          <ac:spMkLst>
            <pc:docMk/>
            <pc:sldMk cId="0" sldId="27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3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19EC-47E7-9D0A-201C-C9D67F51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441C5-F293-6C5F-C185-8CA6531CC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352D5-5C66-5851-A35A-D688C63A1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08CCF-8368-0F6B-0F4D-BDC52627A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16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2860-ADC1-B918-7E76-2A8721C1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31FF3-7FF1-ADAD-2855-97DF8519E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9A972-0877-68B9-A67A-7C63B81ED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2AF8F-FA16-7368-55A5-CAA744CE2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5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E8B5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2E8B5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29721"/>
            <a:ext cx="8229600" cy="393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 SURVEILLANCE INSIGHT PRESENTATION  ·  2015–2025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STD Trends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7627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Data to Action: Reducing the Global Burden of STDs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Insights for Global Health Stakeholders  ·  Donors  ·  Policymakers  ·  International Organizations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43BEBC-BCB6-1896-54DE-FB9C6369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2B7103-1061-CA8D-8862-120252B063E9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5DCF3755-712C-B299-55C0-9C6574D73D56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4C3A0D3-2A4B-F0E4-3194-56DBD6138F06}"/>
              </a:ext>
            </a:extLst>
          </p:cNvPr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AC92F63-26F4-DCA5-8783-20BD824A4E8E}"/>
              </a:ext>
            </a:extLst>
          </p:cNvPr>
          <p:cNvSpPr/>
          <p:nvPr/>
        </p:nvSpPr>
        <p:spPr>
          <a:xfrm>
            <a:off x="411480" y="1005840"/>
            <a:ext cx="2468880" cy="13716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18F2A38-90B2-6073-31F8-3C3A0D4CC5D1}"/>
              </a:ext>
            </a:extLst>
          </p:cNvPr>
          <p:cNvSpPr/>
          <p:nvPr/>
        </p:nvSpPr>
        <p:spPr>
          <a:xfrm>
            <a:off x="41148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336.9M</a:t>
            </a:r>
            <a:endParaRPr lang="en-US" sz="3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581A71E1-C7D3-8169-7322-4EFA56D76AD7}"/>
              </a:ext>
            </a:extLst>
          </p:cNvPr>
          <p:cNvSpPr/>
          <p:nvPr/>
        </p:nvSpPr>
        <p:spPr>
          <a:xfrm>
            <a:off x="4114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STD Cases</a:t>
            </a:r>
            <a:endParaRPr lang="en-US" sz="1000" b="1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E73D7DD-4602-E5E8-13F5-C13379B34982}"/>
              </a:ext>
            </a:extLst>
          </p:cNvPr>
          <p:cNvSpPr/>
          <p:nvPr/>
        </p:nvSpPr>
        <p:spPr>
          <a:xfrm>
            <a:off x="3017520" y="1005840"/>
            <a:ext cx="2468880" cy="137160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93D9CF9-3C35-F937-2D37-EA07541A5FF1}"/>
              </a:ext>
            </a:extLst>
          </p:cNvPr>
          <p:cNvSpPr/>
          <p:nvPr/>
        </p:nvSpPr>
        <p:spPr>
          <a:xfrm>
            <a:off x="301752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15.7M</a:t>
            </a:r>
            <a:endParaRPr lang="en-US" sz="3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234C955-C7E2-0985-403D-C3CFBB74CA0B}"/>
              </a:ext>
            </a:extLst>
          </p:cNvPr>
          <p:cNvSpPr/>
          <p:nvPr/>
        </p:nvSpPr>
        <p:spPr>
          <a:xfrm>
            <a:off x="301752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5F571789-CD04-6D16-9FD5-D2348CDF9957}"/>
              </a:ext>
            </a:extLst>
          </p:cNvPr>
          <p:cNvSpPr/>
          <p:nvPr/>
        </p:nvSpPr>
        <p:spPr>
          <a:xfrm>
            <a:off x="5669280" y="1005840"/>
            <a:ext cx="2468880" cy="137160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A5867C2-8AD7-E92E-9108-090E93720A8E}"/>
              </a:ext>
            </a:extLst>
          </p:cNvPr>
          <p:cNvSpPr/>
          <p:nvPr/>
        </p:nvSpPr>
        <p:spPr>
          <a:xfrm>
            <a:off x="566928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25–49</a:t>
            </a:r>
            <a:endParaRPr lang="en-US" sz="30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49F51AD6-C700-6B9B-C656-4404D0BD0771}"/>
              </a:ext>
            </a:extLst>
          </p:cNvPr>
          <p:cNvSpPr/>
          <p:nvPr/>
        </p:nvSpPr>
        <p:spPr>
          <a:xfrm>
            <a:off x="56692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Age Group (Years)</a:t>
            </a:r>
            <a:endParaRPr lang="en-US" sz="1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8BBF8285-A90F-BE61-5B31-F78DDB319E9A}"/>
              </a:ext>
            </a:extLst>
          </p:cNvPr>
          <p:cNvSpPr/>
          <p:nvPr/>
        </p:nvSpPr>
        <p:spPr>
          <a:xfrm>
            <a:off x="457200" y="2606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impact in low- and middle-income regions (LMICs)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Economically active populations bear the heaviest burden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systems in high-burden regions face compounding strain</a:t>
            </a:r>
            <a:endParaRPr lang="en-US" sz="14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ABFECAA7-3FE4-3552-3E97-1F9A9D7366DB}"/>
              </a:ext>
            </a:extLst>
          </p:cNvPr>
          <p:cNvSpPr/>
          <p:nvPr/>
        </p:nvSpPr>
        <p:spPr>
          <a:xfrm>
            <a:off x="146304" y="4251960"/>
            <a:ext cx="8997696" cy="594360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3BE21FF-5163-A67C-4B6C-C69750B741C4}"/>
              </a:ext>
            </a:extLst>
          </p:cNvPr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The burden is not just high — it is persistent and unevenly distributed</a:t>
            </a:r>
            <a:endParaRPr lang="en-US" sz="12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E18AFF81-38A7-D036-2F6C-E3037A66BDD3}"/>
              </a:ext>
            </a:extLst>
          </p:cNvPr>
          <p:cNvSpPr/>
          <p:nvPr/>
        </p:nvSpPr>
        <p:spPr>
          <a:xfrm>
            <a:off x="411480" y="2130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2015–2025 cumulative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063546D5-6695-541C-671B-36DD25E88849}"/>
              </a:ext>
            </a:extLst>
          </p:cNvPr>
          <p:cNvSpPr/>
          <p:nvPr/>
        </p:nvSpPr>
        <p:spPr>
          <a:xfrm>
            <a:off x="3017520" y="20939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Preventable deaths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4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400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WINNING THE FIGHT?</a:t>
            </a:r>
            <a:endParaRPr lang="en-US" sz="85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51876BD1-2A95-E9B3-09FB-5AAC396AA214}"/>
              </a:ext>
            </a:extLst>
          </p:cNvPr>
          <p:cNvSpPr/>
          <p:nvPr/>
        </p:nvSpPr>
        <p:spPr>
          <a:xfrm>
            <a:off x="0" y="25603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Trends: Progress or Plateau?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B2064F28-F6E0-502F-F123-D96FDB3ACB77}"/>
              </a:ext>
            </a:extLst>
          </p:cNvPr>
          <p:cNvSpPr/>
          <p:nvPr/>
        </p:nvSpPr>
        <p:spPr>
          <a:xfrm>
            <a:off x="457200" y="932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OVERVIEW</a:t>
            </a:r>
            <a:endParaRPr lang="en-US" sz="75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ED6E87F9-97EC-7318-0DBE-190201421D02}"/>
              </a:ext>
            </a:extLst>
          </p:cNvPr>
          <p:cNvSpPr/>
          <p:nvPr/>
        </p:nvSpPr>
        <p:spPr>
          <a:xfrm>
            <a:off x="127275" y="1234440"/>
            <a:ext cx="3749040" cy="347472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TRENDS</a:t>
            </a:r>
            <a:endParaRPr lang="en-US" sz="10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5EA8993D-163C-DD26-8160-1E1A3D228FFB}"/>
              </a:ext>
            </a:extLst>
          </p:cNvPr>
          <p:cNvSpPr/>
          <p:nvPr/>
        </p:nvSpPr>
        <p:spPr>
          <a:xfrm>
            <a:off x="127275" y="1700784"/>
            <a:ext cx="3474720" cy="2831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cases fluctuate between 25M and 39M globally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sustained downward trajectory observed over the decade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diagnostics partly inflate reported case numbers</a:t>
            </a:r>
          </a:p>
          <a:p>
            <a:pPr algn="ctr">
              <a:spcAft>
                <a:spcPts val="500"/>
              </a:spcAft>
              <a:buSzPct val="100000"/>
            </a:pPr>
            <a:endParaRPr lang="en-US" sz="1050" b="1" dirty="0">
              <a:solidFill>
                <a:srgbClr val="FFFFFF"/>
              </a:solidFill>
              <a:highlight>
                <a:srgbClr val="217346"/>
              </a:highlight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spcAft>
                <a:spcPts val="500"/>
              </a:spcAft>
              <a:buSzPct val="100000"/>
            </a:pPr>
            <a:r>
              <a:rPr lang="en-US" sz="1050" b="1" dirty="0">
                <a:solidFill>
                  <a:srgbClr val="FFFFFF"/>
                </a:solidFill>
                <a:highlight>
                  <a:srgbClr val="217346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050" dirty="0">
              <a:highlight>
                <a:srgbClr val="217346"/>
              </a:highlight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and fragmented prevention strategies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shifts across demographics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gaps in healthcare access</a:t>
            </a:r>
            <a:endParaRPr lang="en-US" sz="1050" dirty="0"/>
          </a:p>
          <a:p>
            <a:pPr>
              <a:spcAft>
                <a:spcPts val="500"/>
              </a:spcAft>
              <a:buSzPct val="100000"/>
            </a:pPr>
            <a:endParaRPr lang="en-US" sz="105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E7347325-BA7F-F885-1F59-6161D82953B1}"/>
              </a:ext>
            </a:extLst>
          </p:cNvPr>
          <p:cNvSpPr/>
          <p:nvPr/>
        </p:nvSpPr>
        <p:spPr>
          <a:xfrm>
            <a:off x="4164227" y="1234440"/>
            <a:ext cx="4852498" cy="33066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4D2A3E12-F30E-E346-E878-A6FD47066E6D}"/>
              </a:ext>
            </a:extLst>
          </p:cNvPr>
          <p:cNvSpPr/>
          <p:nvPr/>
        </p:nvSpPr>
        <p:spPr>
          <a:xfrm>
            <a:off x="4164227" y="1234440"/>
            <a:ext cx="4852497" cy="347472"/>
          </a:xfrm>
          <a:prstGeom prst="rect">
            <a:avLst/>
          </a:prstGeom>
          <a:solidFill>
            <a:srgbClr val="1E4D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00" dirty="0"/>
          </a:p>
        </p:txBody>
      </p:sp>
      <p:sp>
        <p:nvSpPr>
          <p:cNvPr id="51" name="Shape 0">
            <a:extLst>
              <a:ext uri="{FF2B5EF4-FFF2-40B4-BE49-F238E27FC236}">
                <a16:creationId xmlns:a16="http://schemas.microsoft.com/office/drawing/2014/main" id="{EDEE88DC-F592-ED65-D795-1260EAF2028E}"/>
              </a:ext>
            </a:extLst>
          </p:cNvPr>
          <p:cNvSpPr/>
          <p:nvPr/>
        </p:nvSpPr>
        <p:spPr>
          <a:xfrm>
            <a:off x="0" y="4714103"/>
            <a:ext cx="9144000" cy="427914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r>
              <a:rPr lang="en-US" sz="1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We are managing STDs — not reducing them</a:t>
            </a:r>
            <a:endParaRPr lang="en-US" sz="1400" dirty="0"/>
          </a:p>
          <a:p>
            <a:endParaRPr lang="en-US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2DDFB9B-7CEE-24B5-B39F-3930A4836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723" y="1631092"/>
            <a:ext cx="4704091" cy="28049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TRENDS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301752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Burden Composition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A4713B8D-3E4F-5A91-BDEE-FEFC4181D565}"/>
              </a:ext>
            </a:extLst>
          </p:cNvPr>
          <p:cNvSpPr/>
          <p:nvPr/>
        </p:nvSpPr>
        <p:spPr>
          <a:xfrm>
            <a:off x="457200" y="932688"/>
            <a:ext cx="1371600" cy="20116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2EFE1683-8F14-C3D0-BCCF-3C2EB6BB8D8F}"/>
              </a:ext>
            </a:extLst>
          </p:cNvPr>
          <p:cNvSpPr/>
          <p:nvPr/>
        </p:nvSpPr>
        <p:spPr>
          <a:xfrm>
            <a:off x="457200" y="932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DISEASES</a:t>
            </a:r>
            <a:endParaRPr lang="en-US" sz="750" dirty="0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815D039-F0C4-10E2-D35E-796494E49C15}"/>
              </a:ext>
            </a:extLst>
          </p:cNvPr>
          <p:cNvSpPr/>
          <p:nvPr/>
        </p:nvSpPr>
        <p:spPr>
          <a:xfrm>
            <a:off x="411480" y="1234441"/>
            <a:ext cx="1920240" cy="1039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7C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E6C083FF-9A30-767E-52CF-1C3677B82F7D}"/>
              </a:ext>
            </a:extLst>
          </p:cNvPr>
          <p:cNvSpPr/>
          <p:nvPr/>
        </p:nvSpPr>
        <p:spPr>
          <a:xfrm>
            <a:off x="411480" y="1234440"/>
            <a:ext cx="1920240" cy="41148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DF126CB-FD14-67C8-3507-E19430910831}"/>
              </a:ext>
            </a:extLst>
          </p:cNvPr>
          <p:cNvSpPr/>
          <p:nvPr/>
        </p:nvSpPr>
        <p:spPr>
          <a:xfrm>
            <a:off x="4114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</a:t>
            </a:r>
            <a:endParaRPr lang="en-US" sz="12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E889E45E-476C-867B-26B1-B79244FA087D}"/>
              </a:ext>
            </a:extLst>
          </p:cNvPr>
          <p:cNvSpPr/>
          <p:nvPr/>
        </p:nvSpPr>
        <p:spPr>
          <a:xfrm>
            <a:off x="502920" y="1719072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prevalent</a:t>
            </a:r>
            <a:endParaRPr lang="en-US" sz="11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7E6FA941-FC27-5FA6-E653-FF78577E553B}"/>
              </a:ext>
            </a:extLst>
          </p:cNvPr>
          <p:cNvSpPr/>
          <p:nvPr/>
        </p:nvSpPr>
        <p:spPr>
          <a:xfrm>
            <a:off x="2496312" y="1234441"/>
            <a:ext cx="1920240" cy="10395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0C5D2C1C-3E15-F99D-8FA1-6E560CCFD476}"/>
              </a:ext>
            </a:extLst>
          </p:cNvPr>
          <p:cNvSpPr/>
          <p:nvPr/>
        </p:nvSpPr>
        <p:spPr>
          <a:xfrm>
            <a:off x="2496312" y="1234440"/>
            <a:ext cx="1920240" cy="41148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9C0FEC6-85E4-6275-207A-6785657B4AB9}"/>
              </a:ext>
            </a:extLst>
          </p:cNvPr>
          <p:cNvSpPr/>
          <p:nvPr/>
        </p:nvSpPr>
        <p:spPr>
          <a:xfrm>
            <a:off x="2496312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</a:t>
            </a:r>
            <a:endParaRPr lang="en-US" sz="12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C8C065F8-5940-D546-2592-3EDE26DC18CC}"/>
              </a:ext>
            </a:extLst>
          </p:cNvPr>
          <p:cNvSpPr/>
          <p:nvPr/>
        </p:nvSpPr>
        <p:spPr>
          <a:xfrm>
            <a:off x="2587752" y="1719072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gaps remain</a:t>
            </a:r>
            <a:endParaRPr lang="en-US" sz="115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A0287ACE-F029-9E16-A5E8-D19FA33D3BED}"/>
              </a:ext>
            </a:extLst>
          </p:cNvPr>
          <p:cNvSpPr/>
          <p:nvPr/>
        </p:nvSpPr>
        <p:spPr>
          <a:xfrm>
            <a:off x="4581144" y="1234440"/>
            <a:ext cx="1920240" cy="1039528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4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E926D97E-D518-645A-0546-D1428B4BA8FB}"/>
              </a:ext>
            </a:extLst>
          </p:cNvPr>
          <p:cNvSpPr/>
          <p:nvPr/>
        </p:nvSpPr>
        <p:spPr>
          <a:xfrm>
            <a:off x="4581144" y="1234440"/>
            <a:ext cx="1920240" cy="4114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D18D439-08C4-9701-5B76-8770B850394F}"/>
              </a:ext>
            </a:extLst>
          </p:cNvPr>
          <p:cNvSpPr/>
          <p:nvPr/>
        </p:nvSpPr>
        <p:spPr>
          <a:xfrm>
            <a:off x="4581144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</a:t>
            </a:r>
            <a:endParaRPr lang="en-US" sz="12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1726AB3B-8CD9-C51B-DE40-8F1EB3077A42}"/>
              </a:ext>
            </a:extLst>
          </p:cNvPr>
          <p:cNvSpPr/>
          <p:nvPr/>
        </p:nvSpPr>
        <p:spPr>
          <a:xfrm>
            <a:off x="4672584" y="1719072"/>
            <a:ext cx="1737360" cy="554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Widespread, vaccine preventable</a:t>
            </a:r>
            <a:endParaRPr lang="en-US" sz="1150" dirty="0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DB569E7B-9605-D305-9FC0-0D90D9E7BC12}"/>
              </a:ext>
            </a:extLst>
          </p:cNvPr>
          <p:cNvSpPr/>
          <p:nvPr/>
        </p:nvSpPr>
        <p:spPr>
          <a:xfrm>
            <a:off x="6665976" y="1234440"/>
            <a:ext cx="1920240" cy="1039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7C4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BC5C4A2D-8B80-74F1-68AC-FE82C1C03AB8}"/>
              </a:ext>
            </a:extLst>
          </p:cNvPr>
          <p:cNvSpPr/>
          <p:nvPr/>
        </p:nvSpPr>
        <p:spPr>
          <a:xfrm>
            <a:off x="6665976" y="1234440"/>
            <a:ext cx="1920240" cy="41148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4D4244E6-C22B-DBE4-7CB3-2118FD50AACC}"/>
              </a:ext>
            </a:extLst>
          </p:cNvPr>
          <p:cNvSpPr/>
          <p:nvPr/>
        </p:nvSpPr>
        <p:spPr>
          <a:xfrm>
            <a:off x="6665976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Syphilis</a:t>
            </a:r>
            <a:endParaRPr lang="en-US" sz="12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97677474-12D1-27CE-BAD8-139228B91AE2}"/>
              </a:ext>
            </a:extLst>
          </p:cNvPr>
          <p:cNvSpPr/>
          <p:nvPr/>
        </p:nvSpPr>
        <p:spPr>
          <a:xfrm>
            <a:off x="6757416" y="1719072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transmission</a:t>
            </a:r>
            <a:endParaRPr lang="en-US" sz="11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3DE7CE6-F0A8-A358-A08E-673E8C127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76" y="2347120"/>
            <a:ext cx="6600732" cy="23051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6" name="Shape 0">
            <a:extLst>
              <a:ext uri="{FF2B5EF4-FFF2-40B4-BE49-F238E27FC236}">
                <a16:creationId xmlns:a16="http://schemas.microsoft.com/office/drawing/2014/main" id="{974C8E47-36B1-2ABC-4AC4-9559170404E5}"/>
              </a:ext>
            </a:extLst>
          </p:cNvPr>
          <p:cNvSpPr/>
          <p:nvPr/>
        </p:nvSpPr>
        <p:spPr>
          <a:xfrm>
            <a:off x="17547" y="4869426"/>
            <a:ext cx="9144000" cy="420131"/>
          </a:xfrm>
          <a:prstGeom prst="rect">
            <a:avLst/>
          </a:prstGeom>
          <a:solidFill>
            <a:srgbClr val="1A3C2A"/>
          </a:solidFill>
          <a:ln/>
        </p:spPr>
        <p:txBody>
          <a:bodyPr/>
          <a:lstStyle/>
          <a:p>
            <a:r>
              <a:rPr lang="en-US" sz="1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A small cluster of diseases drives the majority of the global burden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PROFILE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4334256"/>
            <a:ext cx="8595360" cy="45720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28" name="Shape 25"/>
          <p:cNvSpPr/>
          <p:nvPr/>
        </p:nvSpPr>
        <p:spPr>
          <a:xfrm>
            <a:off x="365760" y="4855464"/>
            <a:ext cx="8412480" cy="9144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STD Global Intelligence Report  ·  2015–2025</a:t>
            </a:r>
            <a:endParaRPr lang="en-US" sz="800" dirty="0"/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72DB0183-E090-4B22-30CC-E20ECC83114E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086D1B97-0CC6-F905-4691-E75D699C8298}"/>
              </a:ext>
            </a:extLst>
          </p:cNvPr>
          <p:cNvSpPr/>
          <p:nvPr/>
        </p:nvSpPr>
        <p:spPr>
          <a:xfrm>
            <a:off x="411480" y="310896"/>
            <a:ext cx="8229600" cy="423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Africa: Disproportionate Impact</a:t>
            </a:r>
            <a:endParaRPr lang="en-US" sz="3000" dirty="0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CAA5867E-7AA3-76CC-67E8-BEEFE411FA42}"/>
              </a:ext>
            </a:extLst>
          </p:cNvPr>
          <p:cNvSpPr/>
          <p:nvPr/>
        </p:nvSpPr>
        <p:spPr>
          <a:xfrm>
            <a:off x="411480" y="1005840"/>
            <a:ext cx="2468880" cy="137160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BEA71AEA-8651-FFB9-C36C-B0A4EB9A6D0E}"/>
              </a:ext>
            </a:extLst>
          </p:cNvPr>
          <p:cNvSpPr/>
          <p:nvPr/>
        </p:nvSpPr>
        <p:spPr>
          <a:xfrm>
            <a:off x="41148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</a:t>
            </a:r>
            <a:endParaRPr lang="en-US" sz="30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A3107EDF-1E2A-5846-3B77-FE3ECB5EC4FA}"/>
              </a:ext>
            </a:extLst>
          </p:cNvPr>
          <p:cNvSpPr/>
          <p:nvPr/>
        </p:nvSpPr>
        <p:spPr>
          <a:xfrm>
            <a:off x="4114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in Africa</a:t>
            </a:r>
            <a:endParaRPr lang="en-US" sz="1000" dirty="0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94B7625D-78FC-75CA-B74F-F7955BCEDFB1}"/>
              </a:ext>
            </a:extLst>
          </p:cNvPr>
          <p:cNvSpPr/>
          <p:nvPr/>
        </p:nvSpPr>
        <p:spPr>
          <a:xfrm>
            <a:off x="3017520" y="1005840"/>
            <a:ext cx="2468880" cy="1371600"/>
          </a:xfrm>
          <a:prstGeom prst="rect">
            <a:avLst/>
          </a:prstGeom>
          <a:solidFill>
            <a:srgbClr val="155724"/>
          </a:solidFill>
          <a:ln w="12700">
            <a:solidFill>
              <a:srgbClr val="1557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325DE471-8483-5F62-8D08-09B35DB71665}"/>
              </a:ext>
            </a:extLst>
          </p:cNvPr>
          <p:cNvSpPr/>
          <p:nvPr/>
        </p:nvSpPr>
        <p:spPr>
          <a:xfrm>
            <a:off x="301752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</a:t>
            </a:r>
            <a:endParaRPr lang="en-US" sz="300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03AE7971-1097-4035-EFC7-405BDBC8F75F}"/>
              </a:ext>
            </a:extLst>
          </p:cNvPr>
          <p:cNvSpPr/>
          <p:nvPr/>
        </p:nvSpPr>
        <p:spPr>
          <a:xfrm>
            <a:off x="301752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Africa</a:t>
            </a:r>
            <a:endParaRPr lang="en-US" sz="1000" dirty="0"/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01ECDA85-0CB7-C5ED-E659-90B56F026315}"/>
              </a:ext>
            </a:extLst>
          </p:cNvPr>
          <p:cNvSpPr/>
          <p:nvPr/>
        </p:nvSpPr>
        <p:spPr>
          <a:xfrm>
            <a:off x="5669280" y="1005840"/>
            <a:ext cx="2468880" cy="13716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A3084A16-205C-50AB-1E9F-0D220AD67125}"/>
              </a:ext>
            </a:extLst>
          </p:cNvPr>
          <p:cNvSpPr/>
          <p:nvPr/>
        </p:nvSpPr>
        <p:spPr>
          <a:xfrm>
            <a:off x="566928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00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3343E421-3464-056D-A111-8BEE2E470EC2}"/>
              </a:ext>
            </a:extLst>
          </p:cNvPr>
          <p:cNvSpPr/>
          <p:nvPr/>
        </p:nvSpPr>
        <p:spPr>
          <a:xfrm>
            <a:off x="5669280" y="1828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— Highest Burden</a:t>
            </a:r>
            <a:endParaRPr lang="en-US" sz="1000" dirty="0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14ACFAC8-F65D-D8B3-2815-DA5FE8B8E957}"/>
              </a:ext>
            </a:extLst>
          </p:cNvPr>
          <p:cNvSpPr/>
          <p:nvPr/>
        </p:nvSpPr>
        <p:spPr>
          <a:xfrm>
            <a:off x="457200" y="26060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STD mortality rates globally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HIV/AIDS is the most prevalent and clinically severe disease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Limited healthcare access accelerates late-stage diagnoses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barriers compound prevention and treatment gaps</a:t>
            </a:r>
            <a:endParaRPr lang="en-US" sz="1350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4B777DBC-2DE2-B063-0A47-C60BACCCC37D}"/>
              </a:ext>
            </a:extLst>
          </p:cNvPr>
          <p:cNvSpPr/>
          <p:nvPr/>
        </p:nvSpPr>
        <p:spPr>
          <a:xfrm>
            <a:off x="320040" y="4274943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Africa is the epicenter of severe outcomes — not just high incidence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5069" y="-127054"/>
            <a:ext cx="9144000" cy="82296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8" name="Shape 35"/>
          <p:cNvSpPr/>
          <p:nvPr/>
        </p:nvSpPr>
        <p:spPr>
          <a:xfrm>
            <a:off x="208146" y="4686300"/>
            <a:ext cx="8595360" cy="457200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43" name="Text 1">
            <a:extLst>
              <a:ext uri="{FF2B5EF4-FFF2-40B4-BE49-F238E27FC236}">
                <a16:creationId xmlns:a16="http://schemas.microsoft.com/office/drawing/2014/main" id="{C13EE7A7-7641-6EBE-0673-D378ED9D621B}"/>
              </a:ext>
            </a:extLst>
          </p:cNvPr>
          <p:cNvSpPr/>
          <p:nvPr/>
        </p:nvSpPr>
        <p:spPr>
          <a:xfrm>
            <a:off x="457200" y="-52763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Africa: Trends &amp; System Gaps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4006567C-045B-9705-77CC-2E38BE8C7F7E}"/>
              </a:ext>
            </a:extLst>
          </p:cNvPr>
          <p:cNvSpPr/>
          <p:nvPr/>
        </p:nvSpPr>
        <p:spPr>
          <a:xfrm>
            <a:off x="411480" y="722013"/>
            <a:ext cx="1371600" cy="201168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95D0F53B-F292-15A8-B74C-797D013D3A2F}"/>
              </a:ext>
            </a:extLst>
          </p:cNvPr>
          <p:cNvSpPr/>
          <p:nvPr/>
        </p:nvSpPr>
        <p:spPr>
          <a:xfrm>
            <a:off x="271849" y="71551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ANALYSIS</a:t>
            </a:r>
            <a:endParaRPr lang="en-US" sz="75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59FB1BA0-78CA-543D-6D77-4CCAB966ADA2}"/>
              </a:ext>
            </a:extLst>
          </p:cNvPr>
          <p:cNvSpPr/>
          <p:nvPr/>
        </p:nvSpPr>
        <p:spPr>
          <a:xfrm>
            <a:off x="365760" y="992123"/>
            <a:ext cx="2606040" cy="133731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34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18A41303-4866-952C-4DDD-C6836C1ABC72}"/>
              </a:ext>
            </a:extLst>
          </p:cNvPr>
          <p:cNvSpPr/>
          <p:nvPr/>
        </p:nvSpPr>
        <p:spPr>
          <a:xfrm>
            <a:off x="377190" y="1001209"/>
            <a:ext cx="2606040" cy="36576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000" dirty="0"/>
          </a:p>
          <a:p>
            <a:endParaRPr lang="en-US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CC728231-187C-C5D7-828C-4317D14F9545}"/>
              </a:ext>
            </a:extLst>
          </p:cNvPr>
          <p:cNvSpPr/>
          <p:nvPr/>
        </p:nvSpPr>
        <p:spPr>
          <a:xfrm>
            <a:off x="411480" y="1234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0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F846D1A2-2D84-1E41-78DC-A72EFBED3A3B}"/>
              </a:ext>
            </a:extLst>
          </p:cNvPr>
          <p:cNvSpPr/>
          <p:nvPr/>
        </p:nvSpPr>
        <p:spPr>
          <a:xfrm>
            <a:off x="271849" y="1435551"/>
            <a:ext cx="2423160" cy="8576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 between case counts and death rates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but persistently high trends since 2015</a:t>
            </a:r>
            <a:endParaRPr lang="en-US" sz="120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7D71D9FF-3BED-4E8C-28BA-C80FE12D01A7}"/>
              </a:ext>
            </a:extLst>
          </p:cNvPr>
          <p:cNvSpPr/>
          <p:nvPr/>
        </p:nvSpPr>
        <p:spPr>
          <a:xfrm>
            <a:off x="3152209" y="963548"/>
            <a:ext cx="2606040" cy="13944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7C4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927A20FF-857F-70F1-4B21-260E36E9693B}"/>
              </a:ext>
            </a:extLst>
          </p:cNvPr>
          <p:cNvSpPr/>
          <p:nvPr/>
        </p:nvSpPr>
        <p:spPr>
          <a:xfrm>
            <a:off x="3152209" y="974145"/>
            <a:ext cx="2606040" cy="36576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FAILURES</a:t>
            </a:r>
            <a:endParaRPr lang="en-US" sz="1000"/>
          </a:p>
          <a:p>
            <a:endParaRPr lang="en-US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B704BB55-8B17-ED6C-9DAD-F5E48650E6AE}"/>
              </a:ext>
            </a:extLst>
          </p:cNvPr>
          <p:cNvSpPr/>
          <p:nvPr/>
        </p:nvSpPr>
        <p:spPr>
          <a:xfrm>
            <a:off x="3200400" y="1234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FAILURES</a:t>
            </a:r>
            <a:endParaRPr lang="en-US" sz="10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A51EE7DF-4DE7-D7AE-D9D8-C1ABAFB1F73C}"/>
              </a:ext>
            </a:extLst>
          </p:cNvPr>
          <p:cNvSpPr/>
          <p:nvPr/>
        </p:nvSpPr>
        <p:spPr>
          <a:xfrm>
            <a:off x="3291840" y="1350502"/>
            <a:ext cx="2423160" cy="10075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early detection &amp; surveillance systems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and inequitable treatment access</a:t>
            </a:r>
            <a:endParaRPr lang="en-US" sz="1200" dirty="0"/>
          </a:p>
        </p:txBody>
      </p:sp>
      <p:sp>
        <p:nvSpPr>
          <p:cNvPr id="54" name="Shape 12">
            <a:extLst>
              <a:ext uri="{FF2B5EF4-FFF2-40B4-BE49-F238E27FC236}">
                <a16:creationId xmlns:a16="http://schemas.microsoft.com/office/drawing/2014/main" id="{76C34C59-62D6-6D92-BB93-E74107F93EBB}"/>
              </a:ext>
            </a:extLst>
          </p:cNvPr>
          <p:cNvSpPr/>
          <p:nvPr/>
        </p:nvSpPr>
        <p:spPr>
          <a:xfrm>
            <a:off x="6012180" y="992123"/>
            <a:ext cx="2606040" cy="13148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13">
            <a:extLst>
              <a:ext uri="{FF2B5EF4-FFF2-40B4-BE49-F238E27FC236}">
                <a16:creationId xmlns:a16="http://schemas.microsoft.com/office/drawing/2014/main" id="{D7BC058F-6BB5-4760-057C-865366F6EED6}"/>
              </a:ext>
            </a:extLst>
          </p:cNvPr>
          <p:cNvSpPr/>
          <p:nvPr/>
        </p:nvSpPr>
        <p:spPr>
          <a:xfrm>
            <a:off x="6020407" y="997005"/>
            <a:ext cx="2606040" cy="34290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F70C7847-DDA0-FF7F-8B9D-5376F80AB4A2}"/>
              </a:ext>
            </a:extLst>
          </p:cNvPr>
          <p:cNvSpPr/>
          <p:nvPr/>
        </p:nvSpPr>
        <p:spPr>
          <a:xfrm>
            <a:off x="5989320" y="992123"/>
            <a:ext cx="2606040" cy="242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DISPARITIES</a:t>
            </a:r>
            <a:endParaRPr lang="en-US" sz="1000" dirty="0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3BFBC60E-D73E-39FC-D66A-3E67C971E6FB}"/>
              </a:ext>
            </a:extLst>
          </p:cNvPr>
          <p:cNvSpPr/>
          <p:nvPr/>
        </p:nvSpPr>
        <p:spPr>
          <a:xfrm>
            <a:off x="6080760" y="1350502"/>
            <a:ext cx="2423160" cy="1486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HPV &amp; HIV disproportionate exposure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Men: late-stage presentation in Hepatitis B care</a:t>
            </a:r>
            <a:endParaRPr lang="en-US" sz="12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B7FDF5C9-A353-555E-33F6-6FEA0A7CA4DB}"/>
              </a:ext>
            </a:extLst>
          </p:cNvPr>
          <p:cNvSpPr/>
          <p:nvPr/>
        </p:nvSpPr>
        <p:spPr>
          <a:xfrm>
            <a:off x="365760" y="4759092"/>
            <a:ext cx="8412480" cy="315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Mortality is driven more by system gaps than by disease spread alone</a:t>
            </a:r>
            <a:endParaRPr lang="en-US" sz="12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0B35D24-1D29-C5AC-D06D-2ACBFC35D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2466597"/>
            <a:ext cx="3895159" cy="21111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B7F49B4-0A29-D079-2D47-56F5E7AF5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229" y="2466597"/>
            <a:ext cx="4123027" cy="21111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52F06-A415-CB41-43CC-68CA5F7C9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D47148-AC8B-2B88-41A1-24BD223716E2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AF51C59D-39AE-3E3A-B33A-031B583790D0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20A80CB-C9CF-F9FB-11E8-DE8E0FF4AF44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8FCB2E-7AF2-CD02-08DB-0B1E98E6DA4E}"/>
              </a:ext>
            </a:extLst>
          </p:cNvPr>
          <p:cNvSpPr/>
          <p:nvPr/>
        </p:nvSpPr>
        <p:spPr>
          <a:xfrm>
            <a:off x="457200" y="-44143"/>
            <a:ext cx="8229600" cy="757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Burden is Concentrated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3962AFA-950C-2CA3-7EFF-294D4560C564}"/>
              </a:ext>
            </a:extLst>
          </p:cNvPr>
          <p:cNvSpPr/>
          <p:nvPr/>
        </p:nvSpPr>
        <p:spPr>
          <a:xfrm>
            <a:off x="457200" y="1325880"/>
            <a:ext cx="201168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5E4069D-1E34-6AC7-4613-EFA8982BCC97}"/>
              </a:ext>
            </a:extLst>
          </p:cNvPr>
          <p:cNvSpPr/>
          <p:nvPr/>
        </p:nvSpPr>
        <p:spPr>
          <a:xfrm>
            <a:off x="2560320" y="1124712"/>
            <a:ext cx="4777740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61F3F55-2C6A-1434-4F15-A92AFE13786F}"/>
              </a:ext>
            </a:extLst>
          </p:cNvPr>
          <p:cNvSpPr/>
          <p:nvPr/>
        </p:nvSpPr>
        <p:spPr>
          <a:xfrm>
            <a:off x="2560320" y="1124712"/>
            <a:ext cx="4777740" cy="292608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3D3A0C-9F48-6B87-9C6D-889F68AADA77}"/>
              </a:ext>
            </a:extLst>
          </p:cNvPr>
          <p:cNvSpPr/>
          <p:nvPr/>
        </p:nvSpPr>
        <p:spPr>
          <a:xfrm>
            <a:off x="7680960" y="1325880"/>
            <a:ext cx="1371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burden</a:t>
            </a:r>
            <a:endParaRPr lang="en-US" sz="1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0A6267E-7ACF-ED19-AC36-CA83253D9B07}"/>
              </a:ext>
            </a:extLst>
          </p:cNvPr>
          <p:cNvSpPr/>
          <p:nvPr/>
        </p:nvSpPr>
        <p:spPr>
          <a:xfrm>
            <a:off x="45720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4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A9563DD-A280-FA64-470F-94CD3F4BA833}"/>
              </a:ext>
            </a:extLst>
          </p:cNvPr>
          <p:cNvSpPr/>
          <p:nvPr/>
        </p:nvSpPr>
        <p:spPr>
          <a:xfrm>
            <a:off x="2560320" y="1819656"/>
            <a:ext cx="3621024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E065ABB4-8586-2653-6448-93AD3FB063C3}"/>
              </a:ext>
            </a:extLst>
          </p:cNvPr>
          <p:cNvSpPr/>
          <p:nvPr/>
        </p:nvSpPr>
        <p:spPr>
          <a:xfrm>
            <a:off x="2560320" y="1819656"/>
            <a:ext cx="3621024" cy="292608"/>
          </a:xfrm>
          <a:prstGeom prst="rect">
            <a:avLst/>
          </a:prstGeom>
          <a:solidFill>
            <a:srgbClr val="D4A000"/>
          </a:solidFill>
          <a:ln w="12700">
            <a:solidFill>
              <a:srgbClr val="D4A000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12ED29A2-860A-21BC-6BCB-030BCAA1E9E4}"/>
              </a:ext>
            </a:extLst>
          </p:cNvPr>
          <p:cNvSpPr/>
          <p:nvPr/>
        </p:nvSpPr>
        <p:spPr>
          <a:xfrm>
            <a:off x="7680960" y="1984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burden</a:t>
            </a:r>
            <a:endParaRPr lang="en-US" sz="10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2A691ADE-5EA4-BFEF-2E75-D8F6CDB3D916}"/>
              </a:ext>
            </a:extLst>
          </p:cNvPr>
          <p:cNvSpPr/>
          <p:nvPr/>
        </p:nvSpPr>
        <p:spPr>
          <a:xfrm>
            <a:off x="457200" y="2729484"/>
            <a:ext cx="20116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4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F173AE8-B22C-D2BE-2FAF-84CF6301DA20}"/>
              </a:ext>
            </a:extLst>
          </p:cNvPr>
          <p:cNvSpPr/>
          <p:nvPr/>
        </p:nvSpPr>
        <p:spPr>
          <a:xfrm>
            <a:off x="2560320" y="2514600"/>
            <a:ext cx="2766060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432EBA9-CA55-1CE1-9A1F-E03449355451}"/>
              </a:ext>
            </a:extLst>
          </p:cNvPr>
          <p:cNvSpPr/>
          <p:nvPr/>
        </p:nvSpPr>
        <p:spPr>
          <a:xfrm>
            <a:off x="2560320" y="2514600"/>
            <a:ext cx="2766060" cy="29260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C2A5A36C-9C73-C752-A628-89864B09572D}"/>
              </a:ext>
            </a:extLst>
          </p:cNvPr>
          <p:cNvSpPr/>
          <p:nvPr/>
        </p:nvSpPr>
        <p:spPr>
          <a:xfrm>
            <a:off x="7680960" y="2807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burden</a:t>
            </a:r>
            <a:endParaRPr lang="en-US" sz="10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274DDD9D-7C55-673F-B1C7-E6EC79C46DED}"/>
              </a:ext>
            </a:extLst>
          </p:cNvPr>
          <p:cNvSpPr/>
          <p:nvPr/>
        </p:nvSpPr>
        <p:spPr>
          <a:xfrm>
            <a:off x="457200" y="348402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14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2FC05E2A-529C-0A81-E491-AFF2EAAE0377}"/>
              </a:ext>
            </a:extLst>
          </p:cNvPr>
          <p:cNvSpPr/>
          <p:nvPr/>
        </p:nvSpPr>
        <p:spPr>
          <a:xfrm>
            <a:off x="2560320" y="3209544"/>
            <a:ext cx="1911096" cy="2926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B075DC3F-92E0-A3DE-91DD-B11ED91A1020}"/>
              </a:ext>
            </a:extLst>
          </p:cNvPr>
          <p:cNvSpPr/>
          <p:nvPr/>
        </p:nvSpPr>
        <p:spPr>
          <a:xfrm>
            <a:off x="2560320" y="3209544"/>
            <a:ext cx="1911096" cy="292608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EFED26BD-AAA6-E6EA-C1B1-554B63004F32}"/>
              </a:ext>
            </a:extLst>
          </p:cNvPr>
          <p:cNvSpPr/>
          <p:nvPr/>
        </p:nvSpPr>
        <p:spPr>
          <a:xfrm>
            <a:off x="7680960" y="356600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 burden</a:t>
            </a:r>
            <a:endParaRPr lang="en-US" sz="100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49900803-F526-7B70-2ADE-B7CC50E02D1C}"/>
              </a:ext>
            </a:extLst>
          </p:cNvPr>
          <p:cNvSpPr/>
          <p:nvPr/>
        </p:nvSpPr>
        <p:spPr>
          <a:xfrm>
            <a:off x="457200" y="4206240"/>
            <a:ext cx="8229600" cy="937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and urbanization amplify transmission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 capacity varies dramatically across countries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top countries = continental-level impact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B85972-DAB4-3A81-7262-97EABD183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34" y="618639"/>
            <a:ext cx="5837026" cy="35373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54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3951" y="-39718"/>
            <a:ext cx="9557951" cy="661512"/>
          </a:xfrm>
          <a:prstGeom prst="rect">
            <a:avLst/>
          </a:prstGeom>
          <a:solidFill>
            <a:srgbClr val="1A3C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DEEP DIVE: GHANA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228602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Ghana: A Microcosm of the Challenge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65760" y="4855464"/>
            <a:ext cx="8412480" cy="9144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E7D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STD Global Intelligence Report  ·  2015–2025</a:t>
            </a:r>
            <a:endParaRPr lang="en-US" sz="800" dirty="0"/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D471821A-E673-A193-4D36-B185F0F318AE}"/>
              </a:ext>
            </a:extLst>
          </p:cNvPr>
          <p:cNvSpPr/>
          <p:nvPr/>
        </p:nvSpPr>
        <p:spPr>
          <a:xfrm>
            <a:off x="-507732" y="6418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FOCUS</a:t>
            </a:r>
            <a:endParaRPr lang="en-US" sz="750" dirty="0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934CE019-1B78-7151-3D7C-D1667BF6F059}"/>
              </a:ext>
            </a:extLst>
          </p:cNvPr>
          <p:cNvSpPr/>
          <p:nvPr/>
        </p:nvSpPr>
        <p:spPr>
          <a:xfrm>
            <a:off x="-513535" y="946068"/>
            <a:ext cx="4025700" cy="386090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3F9C0F32-520A-8250-6C8D-FDC0321E64BF}"/>
              </a:ext>
            </a:extLst>
          </p:cNvPr>
          <p:cNvSpPr/>
          <p:nvPr/>
        </p:nvSpPr>
        <p:spPr>
          <a:xfrm>
            <a:off x="-413951" y="623363"/>
            <a:ext cx="3926116" cy="365760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6EF3B065-2A1E-5510-53FA-5A94C4C4844D}"/>
              </a:ext>
            </a:extLst>
          </p:cNvPr>
          <p:cNvSpPr/>
          <p:nvPr/>
        </p:nvSpPr>
        <p:spPr>
          <a:xfrm>
            <a:off x="-352664" y="1076398"/>
            <a:ext cx="3703320" cy="2578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Fluctuating STD trends throughout 2015–2025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 spikes coincide with periods of reduced intervention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 rates showing signs of stabilization</a:t>
            </a:r>
          </a:p>
          <a:p>
            <a:pPr>
              <a:spcAft>
                <a:spcPts val="500"/>
              </a:spcAft>
              <a:buSzPct val="100000"/>
            </a:pPr>
            <a:endParaRPr lang="en-US" sz="1300" dirty="0">
              <a:solidFill>
                <a:srgbClr val="2E7D5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  <a:buSzPct val="100000"/>
            </a:pPr>
            <a:endParaRPr lang="en-US" sz="1300" dirty="0">
              <a:solidFill>
                <a:srgbClr val="2E7D5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spcAft>
                <a:spcPts val="500"/>
              </a:spcAft>
              <a:buSzPct val="100000"/>
            </a:pPr>
            <a:r>
              <a:rPr lang="en-US" sz="13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CAUSES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Intermittent effectiveness of prevention programs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risk shifts among key populations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sustained, long-term prevention coverage</a:t>
            </a:r>
            <a:endParaRPr lang="en-US" sz="12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B3A9A05B-6DAA-BA5D-750F-37F730E524AE}"/>
              </a:ext>
            </a:extLst>
          </p:cNvPr>
          <p:cNvSpPr/>
          <p:nvPr/>
        </p:nvSpPr>
        <p:spPr>
          <a:xfrm>
            <a:off x="3842578" y="1007704"/>
            <a:ext cx="5276334" cy="383584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A341174-5635-E987-9DC3-F5F9AA9CE2EA}"/>
              </a:ext>
            </a:extLst>
          </p:cNvPr>
          <p:cNvSpPr/>
          <p:nvPr/>
        </p:nvSpPr>
        <p:spPr>
          <a:xfrm>
            <a:off x="3842578" y="641884"/>
            <a:ext cx="5301421" cy="36576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3AE205E7-2E05-29AB-9E02-7ED0D57794E3}"/>
              </a:ext>
            </a:extLst>
          </p:cNvPr>
          <p:cNvSpPr/>
          <p:nvPr/>
        </p:nvSpPr>
        <p:spPr>
          <a:xfrm>
            <a:off x="4578666" y="6601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CAUSES</a:t>
            </a:r>
            <a:endParaRPr lang="en-US" sz="10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319DBB8A-B0DC-C11F-B208-03BFD5F61D4F}"/>
              </a:ext>
            </a:extLst>
          </p:cNvPr>
          <p:cNvSpPr/>
          <p:nvPr/>
        </p:nvSpPr>
        <p:spPr>
          <a:xfrm>
            <a:off x="4800600" y="1673352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0743AE92-3B71-2F06-3860-334F32673524}"/>
              </a:ext>
            </a:extLst>
          </p:cNvPr>
          <p:cNvSpPr/>
          <p:nvPr/>
        </p:nvSpPr>
        <p:spPr>
          <a:xfrm>
            <a:off x="-698157" y="4843550"/>
            <a:ext cx="9933597" cy="409678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6EAE3623-C8A9-2F4E-20BF-89450B5A7650}"/>
              </a:ext>
            </a:extLst>
          </p:cNvPr>
          <p:cNvSpPr/>
          <p:nvPr/>
        </p:nvSpPr>
        <p:spPr>
          <a:xfrm>
            <a:off x="365760" y="4892040"/>
            <a:ext cx="841248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Ghana reflects both meaningful progress and persistent vulnerability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88DEDE-4765-6851-CE43-CB048CB91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1" y="3182862"/>
            <a:ext cx="3328100" cy="1669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970877-BC68-2400-68E8-AF3EA214F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256" y="1044220"/>
            <a:ext cx="4506978" cy="2026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3"/>
          <p:cNvSpPr/>
          <p:nvPr/>
        </p:nvSpPr>
        <p:spPr>
          <a:xfrm>
            <a:off x="365760" y="4855464"/>
            <a:ext cx="8412480" cy="9144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5D5F0683-371F-9B58-A4B6-9E8F41C642F0}"/>
              </a:ext>
            </a:extLst>
          </p:cNvPr>
          <p:cNvSpPr/>
          <p:nvPr/>
        </p:nvSpPr>
        <p:spPr>
          <a:xfrm>
            <a:off x="45720" y="59435"/>
            <a:ext cx="9144000" cy="780823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  <p:txBody>
          <a:bodyPr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Ghana: Mortality &amp; Risk Outlook</a:t>
            </a:r>
            <a:endParaRPr lang="en-US" sz="30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9256072B-4AFA-719E-79D5-D95665E372CC}"/>
              </a:ext>
            </a:extLst>
          </p:cNvPr>
          <p:cNvSpPr/>
          <p:nvPr/>
        </p:nvSpPr>
        <p:spPr>
          <a:xfrm>
            <a:off x="411480" y="1051560"/>
            <a:ext cx="2606040" cy="2331720"/>
          </a:xfrm>
          <a:prstGeom prst="rect">
            <a:avLst/>
          </a:prstGeom>
          <a:solidFill>
            <a:srgbClr val="1A3C2A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CF1CF3E5-DE99-C45C-A5D2-9D746A80AD5F}"/>
              </a:ext>
            </a:extLst>
          </p:cNvPr>
          <p:cNvSpPr/>
          <p:nvPr/>
        </p:nvSpPr>
        <p:spPr>
          <a:xfrm>
            <a:off x="411480" y="1051560"/>
            <a:ext cx="2606040" cy="73152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8DC15FAD-AB07-DC04-AAF1-FC54FEE408AA}"/>
              </a:ext>
            </a:extLst>
          </p:cNvPr>
          <p:cNvSpPr/>
          <p:nvPr/>
        </p:nvSpPr>
        <p:spPr>
          <a:xfrm>
            <a:off x="502920" y="11704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Diagnosis</a:t>
            </a:r>
            <a:endParaRPr lang="en-US" sz="130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FE1C50AA-6902-9A26-9C7A-13B8B3586318}"/>
              </a:ext>
            </a:extLst>
          </p:cNvPr>
          <p:cNvSpPr/>
          <p:nvPr/>
        </p:nvSpPr>
        <p:spPr>
          <a:xfrm>
            <a:off x="50292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reaching care at advanced disease stages</a:t>
            </a:r>
            <a:endParaRPr lang="en-US" sz="12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D08499C1-38E3-7CCD-12B6-3B7417F7C199}"/>
              </a:ext>
            </a:extLst>
          </p:cNvPr>
          <p:cNvSpPr/>
          <p:nvPr/>
        </p:nvSpPr>
        <p:spPr>
          <a:xfrm>
            <a:off x="3200400" y="1051560"/>
            <a:ext cx="2606040" cy="2331720"/>
          </a:xfrm>
          <a:prstGeom prst="rect">
            <a:avLst/>
          </a:prstGeom>
          <a:solidFill>
            <a:srgbClr val="1A3C2A"/>
          </a:solidFill>
          <a:ln w="12700">
            <a:solidFill>
              <a:srgbClr val="D4A000"/>
            </a:solidFill>
            <a:prstDash val="solid"/>
          </a:ln>
        </p:spPr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383B5F2D-7E0B-8C5C-297C-3D592D818984}"/>
              </a:ext>
            </a:extLst>
          </p:cNvPr>
          <p:cNvSpPr/>
          <p:nvPr/>
        </p:nvSpPr>
        <p:spPr>
          <a:xfrm>
            <a:off x="3200400" y="1051560"/>
            <a:ext cx="2606040" cy="73152"/>
          </a:xfrm>
          <a:prstGeom prst="rect">
            <a:avLst/>
          </a:prstGeom>
          <a:solidFill>
            <a:srgbClr val="D4A000"/>
          </a:solidFill>
          <a:ln w="12700">
            <a:solidFill>
              <a:srgbClr val="D4A000"/>
            </a:solidFill>
            <a:prstDash val="solid"/>
          </a:ln>
        </p:spPr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361578DF-356E-69CD-8524-36EA5B231AEA}"/>
              </a:ext>
            </a:extLst>
          </p:cNvPr>
          <p:cNvSpPr/>
          <p:nvPr/>
        </p:nvSpPr>
        <p:spPr>
          <a:xfrm>
            <a:off x="3291840" y="11704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Vaccination</a:t>
            </a:r>
            <a:endParaRPr lang="en-US" sz="13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DBCF7EE6-4691-730C-308D-D08340DB7034}"/>
              </a:ext>
            </a:extLst>
          </p:cNvPr>
          <p:cNvSpPr/>
          <p:nvPr/>
        </p:nvSpPr>
        <p:spPr>
          <a:xfrm>
            <a:off x="329184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fraction of at-risk individuals are screened annually</a:t>
            </a:r>
            <a:endParaRPr lang="en-US" sz="12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3AEE3C2B-B79C-347F-4B09-4A1B50FC63F1}"/>
              </a:ext>
            </a:extLst>
          </p:cNvPr>
          <p:cNvSpPr/>
          <p:nvPr/>
        </p:nvSpPr>
        <p:spPr>
          <a:xfrm>
            <a:off x="5989320" y="1051560"/>
            <a:ext cx="2606040" cy="2331720"/>
          </a:xfrm>
          <a:prstGeom prst="rect">
            <a:avLst/>
          </a:prstGeom>
          <a:solidFill>
            <a:srgbClr val="1A3C2A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2AF02861-1198-D54C-FD02-6352CFD85935}"/>
              </a:ext>
            </a:extLst>
          </p:cNvPr>
          <p:cNvSpPr/>
          <p:nvPr/>
        </p:nvSpPr>
        <p:spPr>
          <a:xfrm>
            <a:off x="5989320" y="1051560"/>
            <a:ext cx="2606040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4AAA31D-D86D-4FBC-38AE-257FD0F29E5C}"/>
              </a:ext>
            </a:extLst>
          </p:cNvPr>
          <p:cNvSpPr/>
          <p:nvPr/>
        </p:nvSpPr>
        <p:spPr>
          <a:xfrm>
            <a:off x="6080760" y="11704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Adherence Gaps</a:t>
            </a:r>
            <a:endParaRPr lang="en-US" sz="13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D44305A-D437-D2A4-315B-D690C59315D6}"/>
              </a:ext>
            </a:extLst>
          </p:cNvPr>
          <p:cNvSpPr/>
          <p:nvPr/>
        </p:nvSpPr>
        <p:spPr>
          <a:xfrm>
            <a:off x="6080760" y="18745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adherence to long-term antiretroviral therapy</a:t>
            </a:r>
            <a:endParaRPr lang="en-US" sz="12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92F79F90-3FD1-96E1-4E8E-DDB299735324}"/>
              </a:ext>
            </a:extLst>
          </p:cNvPr>
          <p:cNvSpPr/>
          <p:nvPr/>
        </p:nvSpPr>
        <p:spPr>
          <a:xfrm>
            <a:off x="411480" y="3520440"/>
            <a:ext cx="8183880" cy="685800"/>
          </a:xfrm>
          <a:prstGeom prst="rect">
            <a:avLst/>
          </a:prstGeom>
          <a:solidFill>
            <a:srgbClr val="155724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40A6BC1B-CAC3-A3AB-A0A2-9A908BB8FD05}"/>
              </a:ext>
            </a:extLst>
          </p:cNvPr>
          <p:cNvSpPr/>
          <p:nvPr/>
        </p:nvSpPr>
        <p:spPr>
          <a:xfrm>
            <a:off x="548640" y="35204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|  Mortality will remain persistently high without substantial improvements in early detection and screening access.</a:t>
            </a:r>
            <a:endParaRPr lang="en-US" sz="120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E1057C94-10DE-5DF8-BF3B-D4FAEC1A3779}"/>
              </a:ext>
            </a:extLst>
          </p:cNvPr>
          <p:cNvSpPr/>
          <p:nvPr/>
        </p:nvSpPr>
        <p:spPr>
          <a:xfrm>
            <a:off x="365760" y="4531841"/>
            <a:ext cx="8229600" cy="594360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79921A75-F596-9629-BE26-E4D710EB9FD4}"/>
              </a:ext>
            </a:extLst>
          </p:cNvPr>
          <p:cNvSpPr/>
          <p:nvPr/>
        </p:nvSpPr>
        <p:spPr>
          <a:xfrm>
            <a:off x="365760" y="4531841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MESSAGE  →  Deaths are preventable — but only with earlier and wider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3456432" y="10515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845552" y="10515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456432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845552" y="22677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845552" y="34838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650" dirty="0"/>
          </a:p>
        </p:txBody>
      </p:sp>
      <p:sp>
        <p:nvSpPr>
          <p:cNvPr id="79" name="Shape 0">
            <a:extLst>
              <a:ext uri="{FF2B5EF4-FFF2-40B4-BE49-F238E27FC236}">
                <a16:creationId xmlns:a16="http://schemas.microsoft.com/office/drawing/2014/main" id="{3F5186A8-3B79-BE7F-5C80-40C0F90471A9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</p:sp>
      <p:sp>
        <p:nvSpPr>
          <p:cNvPr id="80" name="Text 1">
            <a:extLst>
              <a:ext uri="{FF2B5EF4-FFF2-40B4-BE49-F238E27FC236}">
                <a16:creationId xmlns:a16="http://schemas.microsoft.com/office/drawing/2014/main" id="{08BD51D3-7977-009F-CD1F-07D566F40B15}"/>
              </a:ext>
            </a:extLst>
          </p:cNvPr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Decade: Two Possible Futures</a:t>
            </a:r>
            <a:endParaRPr lang="en-US" sz="3000" dirty="0"/>
          </a:p>
        </p:txBody>
      </p:sp>
      <p:sp>
        <p:nvSpPr>
          <p:cNvPr id="81" name="Shape 2">
            <a:extLst>
              <a:ext uri="{FF2B5EF4-FFF2-40B4-BE49-F238E27FC236}">
                <a16:creationId xmlns:a16="http://schemas.microsoft.com/office/drawing/2014/main" id="{78A7F09A-F27C-99DA-0BD5-51B10F599CF1}"/>
              </a:ext>
            </a:extLst>
          </p:cNvPr>
          <p:cNvSpPr/>
          <p:nvPr/>
        </p:nvSpPr>
        <p:spPr>
          <a:xfrm>
            <a:off x="411480" y="1005840"/>
            <a:ext cx="3977640" cy="3017520"/>
          </a:xfrm>
          <a:prstGeom prst="rect">
            <a:avLst/>
          </a:prstGeom>
          <a:solidFill>
            <a:srgbClr val="F0FFF4"/>
          </a:solidFill>
          <a:ln w="12700">
            <a:solidFill>
              <a:srgbClr val="1E7C4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2" name="Shape 3">
            <a:extLst>
              <a:ext uri="{FF2B5EF4-FFF2-40B4-BE49-F238E27FC236}">
                <a16:creationId xmlns:a16="http://schemas.microsoft.com/office/drawing/2014/main" id="{07133869-A1FA-DBE2-9CE9-1A80D946208D}"/>
              </a:ext>
            </a:extLst>
          </p:cNvPr>
          <p:cNvSpPr/>
          <p:nvPr/>
        </p:nvSpPr>
        <p:spPr>
          <a:xfrm>
            <a:off x="411480" y="1005840"/>
            <a:ext cx="3977640" cy="457200"/>
          </a:xfrm>
          <a:prstGeom prst="rect">
            <a:avLst/>
          </a:prstGeom>
          <a:solidFill>
            <a:srgbClr val="1E7C45"/>
          </a:solidFill>
          <a:ln w="12700">
            <a:solidFill>
              <a:srgbClr val="1E7C45"/>
            </a:solidFill>
            <a:prstDash val="solid"/>
          </a:ln>
        </p:spPr>
      </p:sp>
      <p:sp>
        <p:nvSpPr>
          <p:cNvPr id="83" name="Text 4">
            <a:extLst>
              <a:ext uri="{FF2B5EF4-FFF2-40B4-BE49-F238E27FC236}">
                <a16:creationId xmlns:a16="http://schemas.microsoft.com/office/drawing/2014/main" id="{CDA2F5F9-3E14-FFAE-37C6-3CE205D9F67E}"/>
              </a:ext>
            </a:extLst>
          </p:cNvPr>
          <p:cNvSpPr/>
          <p:nvPr/>
        </p:nvSpPr>
        <p:spPr>
          <a:xfrm>
            <a:off x="411480" y="1005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CURRENT TRENDS CONTINUE</a:t>
            </a:r>
            <a:endParaRPr lang="en-US" sz="1100" dirty="0"/>
          </a:p>
        </p:txBody>
      </p:sp>
      <p:sp>
        <p:nvSpPr>
          <p:cNvPr id="84" name="Text 5">
            <a:extLst>
              <a:ext uri="{FF2B5EF4-FFF2-40B4-BE49-F238E27FC236}">
                <a16:creationId xmlns:a16="http://schemas.microsoft.com/office/drawing/2014/main" id="{BBBC4E33-4C1B-8A26-90B3-7519710AA01B}"/>
              </a:ext>
            </a:extLst>
          </p:cNvPr>
          <p:cNvSpPr/>
          <p:nvPr/>
        </p:nvSpPr>
        <p:spPr>
          <a:xfrm>
            <a:off x="548640" y="1554480"/>
            <a:ext cx="3703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fluctuate — no meaningful decline achieved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remains a persistently high-burden region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 continues to dominate mortality statistics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gaps widen as populations grow</a:t>
            </a:r>
            <a:endParaRPr lang="en-US" sz="1300" dirty="0"/>
          </a:p>
        </p:txBody>
      </p:sp>
      <p:sp>
        <p:nvSpPr>
          <p:cNvPr id="85" name="Shape 6">
            <a:extLst>
              <a:ext uri="{FF2B5EF4-FFF2-40B4-BE49-F238E27FC236}">
                <a16:creationId xmlns:a16="http://schemas.microsoft.com/office/drawing/2014/main" id="{2AC5E7A8-51DF-C48C-BD07-CBC128B0A3A5}"/>
              </a:ext>
            </a:extLst>
          </p:cNvPr>
          <p:cNvSpPr/>
          <p:nvPr/>
        </p:nvSpPr>
        <p:spPr>
          <a:xfrm>
            <a:off x="4663440" y="1005840"/>
            <a:ext cx="3977640" cy="3017520"/>
          </a:xfrm>
          <a:prstGeom prst="rect">
            <a:avLst/>
          </a:prstGeom>
          <a:solidFill>
            <a:srgbClr val="F0FFF4"/>
          </a:solidFill>
          <a:ln w="12700">
            <a:solidFill>
              <a:srgbClr val="21734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081C543E-B954-3FD3-EADC-10685A13C13A}"/>
              </a:ext>
            </a:extLst>
          </p:cNvPr>
          <p:cNvSpPr/>
          <p:nvPr/>
        </p:nvSpPr>
        <p:spPr>
          <a:xfrm>
            <a:off x="4663440" y="1005840"/>
            <a:ext cx="3977640" cy="4572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6BDC6728-0E9C-6D65-D2FB-F9BD53B3151A}"/>
              </a:ext>
            </a:extLst>
          </p:cNvPr>
          <p:cNvSpPr/>
          <p:nvPr/>
        </p:nvSpPr>
        <p:spPr>
          <a:xfrm>
            <a:off x="4663440" y="1005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IF INTERVENTIONS IMPROVE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D215212A-C619-1A37-F3E8-13595A49F58B}"/>
              </a:ext>
            </a:extLst>
          </p:cNvPr>
          <p:cNvSpPr/>
          <p:nvPr/>
        </p:nvSpPr>
        <p:spPr>
          <a:xfrm>
            <a:off x="4800600" y="1554480"/>
            <a:ext cx="37033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declines first as treatment access improves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reductions follow with sustained prevention programs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High-burden countries show measurable progress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 capacity grows to meet demand</a:t>
            </a:r>
            <a:endParaRPr lang="en-US" sz="1300" dirty="0"/>
          </a:p>
        </p:txBody>
      </p:sp>
      <p:sp>
        <p:nvSpPr>
          <p:cNvPr id="90" name="Shape 11">
            <a:extLst>
              <a:ext uri="{FF2B5EF4-FFF2-40B4-BE49-F238E27FC236}">
                <a16:creationId xmlns:a16="http://schemas.microsoft.com/office/drawing/2014/main" id="{0BA304D2-08C1-A0D3-837D-87DDF73604A0}"/>
              </a:ext>
            </a:extLst>
          </p:cNvPr>
          <p:cNvSpPr/>
          <p:nvPr/>
        </p:nvSpPr>
        <p:spPr>
          <a:xfrm>
            <a:off x="0" y="4251960"/>
            <a:ext cx="9144000" cy="594360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2C20B2D-6C87-8BC5-56E6-4A19CD20D364}"/>
              </a:ext>
            </a:extLst>
          </p:cNvPr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The future is highly responsive to policy decisions and sustained investment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40F116-9C7E-4F2C-F271-C497333563C9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B46B78-B0B4-EF48-40AA-2B8881E4E074}"/>
              </a:ext>
            </a:extLst>
          </p:cNvPr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 Solutions to Curb the Menace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83D980-BC80-CCBC-E209-B27D85A7B6BC}"/>
              </a:ext>
            </a:extLst>
          </p:cNvPr>
          <p:cNvSpPr/>
          <p:nvPr/>
        </p:nvSpPr>
        <p:spPr>
          <a:xfrm>
            <a:off x="411480" y="1005840"/>
            <a:ext cx="2743200" cy="150876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C7F99F-DFFE-428E-F96B-1DDE7B00E7C7}"/>
              </a:ext>
            </a:extLst>
          </p:cNvPr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85A05B-02E8-8B52-590F-F10F069D3A9F}"/>
              </a:ext>
            </a:extLst>
          </p:cNvPr>
          <p:cNvSpPr/>
          <p:nvPr/>
        </p:nvSpPr>
        <p:spPr>
          <a:xfrm>
            <a:off x="10058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Early Detection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47A51C-5886-D955-CA95-6764DFAAB07C}"/>
              </a:ext>
            </a:extLst>
          </p:cNvPr>
          <p:cNvSpPr/>
          <p:nvPr/>
        </p:nvSpPr>
        <p:spPr>
          <a:xfrm>
            <a:off x="1005840" y="15727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integrated STD screening targeting high-risk age groups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BCB06C3-817C-D947-54BB-94943CC6E3EA}"/>
              </a:ext>
            </a:extLst>
          </p:cNvPr>
          <p:cNvSpPr/>
          <p:nvPr/>
        </p:nvSpPr>
        <p:spPr>
          <a:xfrm>
            <a:off x="3337560" y="1005840"/>
            <a:ext cx="2743200" cy="150876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0B739C-F98D-FFBD-96CC-133B3F50542B}"/>
              </a:ext>
            </a:extLst>
          </p:cNvPr>
          <p:cNvSpPr/>
          <p:nvPr/>
        </p:nvSpPr>
        <p:spPr>
          <a:xfrm>
            <a:off x="342900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C3B39BA-2507-3992-862D-0A4D106CCD30}"/>
              </a:ext>
            </a:extLst>
          </p:cNvPr>
          <p:cNvSpPr/>
          <p:nvPr/>
        </p:nvSpPr>
        <p:spPr>
          <a:xfrm>
            <a:off x="393192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High-Burden Diseases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1752987-0231-FD2E-CAF7-9DB00155E4C5}"/>
              </a:ext>
            </a:extLst>
          </p:cNvPr>
          <p:cNvSpPr/>
          <p:nvPr/>
        </p:nvSpPr>
        <p:spPr>
          <a:xfrm>
            <a:off x="3931920" y="15727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HIV/AIDS treatment; accelerate Hepatitis B &amp; HPV vaccination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3F8E74F-0D89-946D-322F-044778A187F6}"/>
              </a:ext>
            </a:extLst>
          </p:cNvPr>
          <p:cNvSpPr/>
          <p:nvPr/>
        </p:nvSpPr>
        <p:spPr>
          <a:xfrm>
            <a:off x="6263640" y="1005840"/>
            <a:ext cx="2743200" cy="150876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C7909E-E6C0-E29D-C2D1-D64998371EBB}"/>
              </a:ext>
            </a:extLst>
          </p:cNvPr>
          <p:cNvSpPr/>
          <p:nvPr/>
        </p:nvSpPr>
        <p:spPr>
          <a:xfrm>
            <a:off x="635508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2FC75F8-62E0-15B7-0C5A-38FA623DD375}"/>
              </a:ext>
            </a:extLst>
          </p:cNvPr>
          <p:cNvSpPr/>
          <p:nvPr/>
        </p:nvSpPr>
        <p:spPr>
          <a:xfrm>
            <a:off x="685800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Precision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C13046D-7C1F-4FFB-3A21-68C8A4DE62E9}"/>
              </a:ext>
            </a:extLst>
          </p:cNvPr>
          <p:cNvSpPr/>
          <p:nvPr/>
        </p:nvSpPr>
        <p:spPr>
          <a:xfrm>
            <a:off x="6858000" y="15727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targeting in Nigeria and other high-density settings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AC715AC-5A25-B4CF-4467-95C7B85465D5}"/>
              </a:ext>
            </a:extLst>
          </p:cNvPr>
          <p:cNvSpPr/>
          <p:nvPr/>
        </p:nvSpPr>
        <p:spPr>
          <a:xfrm>
            <a:off x="685800" y="2697480"/>
            <a:ext cx="3840480" cy="150876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C4143BA-CDED-524E-BB2C-AC5F86A06A6C}"/>
              </a:ext>
            </a:extLst>
          </p:cNvPr>
          <p:cNvSpPr/>
          <p:nvPr/>
        </p:nvSpPr>
        <p:spPr>
          <a:xfrm>
            <a:off x="7772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1ED0076-F232-4DC0-EC51-A9541E1F81C2}"/>
              </a:ext>
            </a:extLst>
          </p:cNvPr>
          <p:cNvSpPr/>
          <p:nvPr/>
        </p:nvSpPr>
        <p:spPr>
          <a:xfrm>
            <a:off x="12801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Gender Gaps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84DE4CF-52E1-84C7-1248-E0EF462B1C18}"/>
              </a:ext>
            </a:extLst>
          </p:cNvPr>
          <p:cNvSpPr/>
          <p:nvPr/>
        </p:nvSpPr>
        <p:spPr>
          <a:xfrm>
            <a:off x="1280160" y="326440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HPV prevention for women; Hepatitis B &amp; late-stage care access for men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5F8CB24-4679-A41E-16C9-221C255FC6DE}"/>
              </a:ext>
            </a:extLst>
          </p:cNvPr>
          <p:cNvSpPr/>
          <p:nvPr/>
        </p:nvSpPr>
        <p:spPr>
          <a:xfrm>
            <a:off x="4617720" y="2697480"/>
            <a:ext cx="3840480" cy="150876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0C0CB0F-B39C-136F-7364-0EE83C843DB2}"/>
              </a:ext>
            </a:extLst>
          </p:cNvPr>
          <p:cNvSpPr/>
          <p:nvPr/>
        </p:nvSpPr>
        <p:spPr>
          <a:xfrm>
            <a:off x="47091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B4E281-70BB-267F-8EC3-87B3794F5BCE}"/>
              </a:ext>
            </a:extLst>
          </p:cNvPr>
          <p:cNvSpPr/>
          <p:nvPr/>
        </p:nvSpPr>
        <p:spPr>
          <a:xfrm>
            <a:off x="52120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Health Systems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C5962FF-89CB-2B66-5B41-F445F9122D16}"/>
              </a:ext>
            </a:extLst>
          </p:cNvPr>
          <p:cNvSpPr/>
          <p:nvPr/>
        </p:nvSpPr>
        <p:spPr>
          <a:xfrm>
            <a:off x="5212080" y="326440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continuity of care and long-term program funding</a:t>
            </a:r>
            <a:endParaRPr lang="en-US" sz="10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56FC2CA-9C19-1546-AE67-223D186DE2D8}"/>
              </a:ext>
            </a:extLst>
          </p:cNvPr>
          <p:cNvSpPr/>
          <p:nvPr/>
        </p:nvSpPr>
        <p:spPr>
          <a:xfrm>
            <a:off x="0" y="4251960"/>
            <a:ext cx="9144000" cy="594360"/>
          </a:xfrm>
          <a:prstGeom prst="rect">
            <a:avLst/>
          </a:prstGeom>
          <a:solidFill>
            <a:srgbClr val="1E4D34"/>
          </a:solidFill>
          <a:ln w="12700">
            <a:solidFill>
              <a:srgbClr val="1E4D34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71604A-EE22-9BD8-B334-1F01EB1BCBCC}"/>
              </a:ext>
            </a:extLst>
          </p:cNvPr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 →  Precision — not just scale — will determine the next decade's outcomes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77885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793FF955-83EA-75E0-3FF1-C39D64C20E9B}"/>
              </a:ext>
            </a:extLst>
          </p:cNvPr>
          <p:cNvSpPr/>
          <p:nvPr/>
        </p:nvSpPr>
        <p:spPr>
          <a:xfrm>
            <a:off x="329184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Global Leaders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46337C-5976-91AD-F292-16F48A39A107}"/>
              </a:ext>
            </a:extLst>
          </p:cNvPr>
          <p:cNvSpPr/>
          <p:nvPr/>
        </p:nvSpPr>
        <p:spPr>
          <a:xfrm>
            <a:off x="6172200" y="1005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edical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Community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B5B7068-571B-B7E3-E1D3-380F061CEAF9}"/>
              </a:ext>
            </a:extLst>
          </p:cNvPr>
          <p:cNvSpPr/>
          <p:nvPr/>
        </p:nvSpPr>
        <p:spPr>
          <a:xfrm>
            <a:off x="6172200" y="1600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ECD01CBB-7570-DBFF-0576-47EC332BD929}"/>
              </a:ext>
            </a:extLst>
          </p:cNvPr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E8B57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973EAA50-4B47-DFEE-0FF5-FD15FF5A7DBD}"/>
              </a:ext>
            </a:extLst>
          </p:cNvPr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2E8B57">
              <a:alpha val="13000"/>
            </a:srgbClr>
          </a:solidFill>
          <a:ln/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27949731-575B-64BB-7EFB-BFFEFC4524B3}"/>
              </a:ext>
            </a:extLst>
          </p:cNvPr>
          <p:cNvSpPr/>
          <p:nvPr/>
        </p:nvSpPr>
        <p:spPr>
          <a:xfrm>
            <a:off x="457200" y="347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20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4FFA087-DD28-6F74-AA50-39654C2A30F2}"/>
              </a:ext>
            </a:extLst>
          </p:cNvPr>
          <p:cNvSpPr/>
          <p:nvPr/>
        </p:nvSpPr>
        <p:spPr>
          <a:xfrm>
            <a:off x="457200" y="13898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needed now is coordinated, sustained, and adequately funded action.</a:t>
            </a:r>
            <a:endParaRPr lang="en-US" sz="1400" dirty="0"/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DDE4D4D3-9E85-2C8B-1976-8E58148B12F3}"/>
              </a:ext>
            </a:extLst>
          </p:cNvPr>
          <p:cNvSpPr/>
          <p:nvPr/>
        </p:nvSpPr>
        <p:spPr>
          <a:xfrm>
            <a:off x="365760" y="1883664"/>
            <a:ext cx="2651760" cy="2651760"/>
          </a:xfrm>
          <a:prstGeom prst="rect">
            <a:avLst/>
          </a:prstGeom>
          <a:solidFill>
            <a:srgbClr val="1A3C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66402AA-EBFB-3464-E580-748F237246A8}"/>
              </a:ext>
            </a:extLst>
          </p:cNvPr>
          <p:cNvSpPr/>
          <p:nvPr/>
        </p:nvSpPr>
        <p:spPr>
          <a:xfrm>
            <a:off x="365760" y="1883664"/>
            <a:ext cx="2651760" cy="54864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C65CD128-87DD-3DC3-F9F4-7859C56C791F}"/>
              </a:ext>
            </a:extLst>
          </p:cNvPr>
          <p:cNvSpPr/>
          <p:nvPr/>
        </p:nvSpPr>
        <p:spPr>
          <a:xfrm>
            <a:off x="530352" y="19933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&amp; Funders</a:t>
            </a:r>
            <a:endParaRPr lang="en-US" sz="115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E476B1-28CF-125F-7950-A088298B965F}"/>
              </a:ext>
            </a:extLst>
          </p:cNvPr>
          <p:cNvSpPr/>
          <p:nvPr/>
        </p:nvSpPr>
        <p:spPr>
          <a:xfrm>
            <a:off x="530352" y="2514600"/>
            <a:ext cx="73152" cy="7315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49602BA8-C144-C87A-C22E-8079BDCB60D6}"/>
              </a:ext>
            </a:extLst>
          </p:cNvPr>
          <p:cNvSpPr/>
          <p:nvPr/>
        </p:nvSpPr>
        <p:spPr>
          <a:xfrm>
            <a:off x="685800" y="242316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Invest in targeted, high-impact STD interventions</a:t>
            </a:r>
            <a:endParaRPr lang="en-US" sz="95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96D40D7A-2832-1180-CCF0-F362A8E8A4EF}"/>
              </a:ext>
            </a:extLst>
          </p:cNvPr>
          <p:cNvSpPr/>
          <p:nvPr/>
        </p:nvSpPr>
        <p:spPr>
          <a:xfrm>
            <a:off x="530352" y="3127248"/>
            <a:ext cx="73152" cy="7315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D69621AD-9703-F92E-D490-C2CB50BC265F}"/>
              </a:ext>
            </a:extLst>
          </p:cNvPr>
          <p:cNvSpPr/>
          <p:nvPr/>
        </p:nvSpPr>
        <p:spPr>
          <a:xfrm>
            <a:off x="685800" y="30358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 early detection infrastructure in Africa</a:t>
            </a:r>
            <a:endParaRPr lang="en-US" sz="950" dirty="0"/>
          </a:p>
        </p:txBody>
      </p:sp>
      <p:sp>
        <p:nvSpPr>
          <p:cNvPr id="33" name="Shape 12">
            <a:extLst>
              <a:ext uri="{FF2B5EF4-FFF2-40B4-BE49-F238E27FC236}">
                <a16:creationId xmlns:a16="http://schemas.microsoft.com/office/drawing/2014/main" id="{B16DFB8E-ACBB-AA61-83DA-0A2610C3A144}"/>
              </a:ext>
            </a:extLst>
          </p:cNvPr>
          <p:cNvSpPr/>
          <p:nvPr/>
        </p:nvSpPr>
        <p:spPr>
          <a:xfrm>
            <a:off x="530352" y="3739896"/>
            <a:ext cx="73152" cy="7315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DB578611-2B33-D098-1718-4A4210FA0BE3}"/>
              </a:ext>
            </a:extLst>
          </p:cNvPr>
          <p:cNvSpPr/>
          <p:nvPr/>
        </p:nvSpPr>
        <p:spPr>
          <a:xfrm>
            <a:off x="685800" y="364845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Support 10-year program continuity — not 1-year grants</a:t>
            </a:r>
            <a:endParaRPr lang="en-US" sz="95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653ADE62-6D4A-C506-2A84-5AEF6A2EC8BE}"/>
              </a:ext>
            </a:extLst>
          </p:cNvPr>
          <p:cNvSpPr/>
          <p:nvPr/>
        </p:nvSpPr>
        <p:spPr>
          <a:xfrm>
            <a:off x="3200400" y="1883664"/>
            <a:ext cx="2651760" cy="2651760"/>
          </a:xfrm>
          <a:prstGeom prst="rect">
            <a:avLst/>
          </a:prstGeom>
          <a:solidFill>
            <a:srgbClr val="1A3C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937DE5BD-9CBC-6653-9257-9ADB288DE155}"/>
              </a:ext>
            </a:extLst>
          </p:cNvPr>
          <p:cNvSpPr/>
          <p:nvPr/>
        </p:nvSpPr>
        <p:spPr>
          <a:xfrm>
            <a:off x="3200400" y="1883664"/>
            <a:ext cx="265176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612FCE2D-CC15-598E-26C0-A64A080611AD}"/>
              </a:ext>
            </a:extLst>
          </p:cNvPr>
          <p:cNvSpPr/>
          <p:nvPr/>
        </p:nvSpPr>
        <p:spPr>
          <a:xfrm>
            <a:off x="3364992" y="19933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Global Leaders</a:t>
            </a:r>
            <a:endParaRPr lang="en-US" sz="115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43EFB4FE-F17A-54B9-D305-0746A19A24B9}"/>
              </a:ext>
            </a:extLst>
          </p:cNvPr>
          <p:cNvSpPr/>
          <p:nvPr/>
        </p:nvSpPr>
        <p:spPr>
          <a:xfrm>
            <a:off x="3364992" y="2514600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773E83A-0F6D-2EE3-91B4-F6223B5FE25C}"/>
              </a:ext>
            </a:extLst>
          </p:cNvPr>
          <p:cNvSpPr/>
          <p:nvPr/>
        </p:nvSpPr>
        <p:spPr>
          <a:xfrm>
            <a:off x="3520440" y="242316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Standardize and scale proven best practices globally</a:t>
            </a:r>
            <a:endParaRPr lang="en-US" sz="950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0F8EC372-DC80-35B3-C82B-7937DE62A50D}"/>
              </a:ext>
            </a:extLst>
          </p:cNvPr>
          <p:cNvSpPr/>
          <p:nvPr/>
        </p:nvSpPr>
        <p:spPr>
          <a:xfrm>
            <a:off x="3364992" y="3127248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29B2B25B-822A-AF06-2D86-A697D2865DDB}"/>
              </a:ext>
            </a:extLst>
          </p:cNvPr>
          <p:cNvSpPr/>
          <p:nvPr/>
        </p:nvSpPr>
        <p:spPr>
          <a:xfrm>
            <a:off x="3520440" y="30358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Mandate integrated STD surveillance systems</a:t>
            </a:r>
            <a:endParaRPr lang="en-US" sz="950" dirty="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EB661EE1-B648-01BE-A38B-7BA1262D4C3D}"/>
              </a:ext>
            </a:extLst>
          </p:cNvPr>
          <p:cNvSpPr/>
          <p:nvPr/>
        </p:nvSpPr>
        <p:spPr>
          <a:xfrm>
            <a:off x="3364992" y="3739896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603AA6A8-27EE-7CB2-85E7-30D1C7D689B7}"/>
              </a:ext>
            </a:extLst>
          </p:cNvPr>
          <p:cNvSpPr/>
          <p:nvPr/>
        </p:nvSpPr>
        <p:spPr>
          <a:xfrm>
            <a:off x="3520440" y="364845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Drive country-level accountability frameworks</a:t>
            </a:r>
            <a:endParaRPr lang="en-US" sz="950" dirty="0"/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CCED813B-53B2-2D03-9FE1-023A05C15CCA}"/>
              </a:ext>
            </a:extLst>
          </p:cNvPr>
          <p:cNvSpPr/>
          <p:nvPr/>
        </p:nvSpPr>
        <p:spPr>
          <a:xfrm>
            <a:off x="6035040" y="1883664"/>
            <a:ext cx="2651760" cy="2651760"/>
          </a:xfrm>
          <a:prstGeom prst="rect">
            <a:avLst/>
          </a:prstGeom>
          <a:solidFill>
            <a:srgbClr val="1A3C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8770F0B6-CF0A-390B-5462-180C4D78BFD7}"/>
              </a:ext>
            </a:extLst>
          </p:cNvPr>
          <p:cNvSpPr/>
          <p:nvPr/>
        </p:nvSpPr>
        <p:spPr>
          <a:xfrm>
            <a:off x="6035040" y="1883664"/>
            <a:ext cx="2651760" cy="5486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9EF1633F-4D1F-DB4D-9DBF-5243F0CD3FD3}"/>
              </a:ext>
            </a:extLst>
          </p:cNvPr>
          <p:cNvSpPr/>
          <p:nvPr/>
        </p:nvSpPr>
        <p:spPr>
          <a:xfrm>
            <a:off x="6199632" y="199339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Community</a:t>
            </a:r>
            <a:endParaRPr lang="en-US" sz="1150" dirty="0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6D508082-316D-1AF9-E25C-EE9EF03CF326}"/>
              </a:ext>
            </a:extLst>
          </p:cNvPr>
          <p:cNvSpPr/>
          <p:nvPr/>
        </p:nvSpPr>
        <p:spPr>
          <a:xfrm>
            <a:off x="6199632" y="2514600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87F7BB47-11C4-E8D7-EABB-8A44D22ADAE6}"/>
              </a:ext>
            </a:extLst>
          </p:cNvPr>
          <p:cNvSpPr/>
          <p:nvPr/>
        </p:nvSpPr>
        <p:spPr>
          <a:xfrm>
            <a:off x="6355080" y="242316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Prioritize early detection and integrated STD care</a:t>
            </a:r>
            <a:endParaRPr lang="en-US" sz="950" dirty="0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B965D537-96FB-B1D8-DEA0-A4FF1608F259}"/>
              </a:ext>
            </a:extLst>
          </p:cNvPr>
          <p:cNvSpPr/>
          <p:nvPr/>
        </p:nvSpPr>
        <p:spPr>
          <a:xfrm>
            <a:off x="6199632" y="3127248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E724CC0A-A149-D42E-BB35-48138CD45F5C}"/>
              </a:ext>
            </a:extLst>
          </p:cNvPr>
          <p:cNvSpPr/>
          <p:nvPr/>
        </p:nvSpPr>
        <p:spPr>
          <a:xfrm>
            <a:off x="6355080" y="303580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Expand community-level screening programs</a:t>
            </a:r>
            <a:endParaRPr lang="en-US" sz="950" dirty="0"/>
          </a:p>
        </p:txBody>
      </p:sp>
      <p:sp>
        <p:nvSpPr>
          <p:cNvPr id="51" name="Shape 30">
            <a:extLst>
              <a:ext uri="{FF2B5EF4-FFF2-40B4-BE49-F238E27FC236}">
                <a16:creationId xmlns:a16="http://schemas.microsoft.com/office/drawing/2014/main" id="{220481BA-FD97-FA2A-20F8-5AA61FFA8187}"/>
              </a:ext>
            </a:extLst>
          </p:cNvPr>
          <p:cNvSpPr/>
          <p:nvPr/>
        </p:nvSpPr>
        <p:spPr>
          <a:xfrm>
            <a:off x="6199632" y="3739896"/>
            <a:ext cx="73152" cy="73152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52" name="Text 31">
            <a:extLst>
              <a:ext uri="{FF2B5EF4-FFF2-40B4-BE49-F238E27FC236}">
                <a16:creationId xmlns:a16="http://schemas.microsoft.com/office/drawing/2014/main" id="{8686300C-2EB4-6DF8-608E-1DFA5C4C5B3F}"/>
              </a:ext>
            </a:extLst>
          </p:cNvPr>
          <p:cNvSpPr/>
          <p:nvPr/>
        </p:nvSpPr>
        <p:spPr>
          <a:xfrm>
            <a:off x="6355080" y="364845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Champion HPV and Hepatitis B vaccination campaigns</a:t>
            </a:r>
            <a:endParaRPr lang="en-US" sz="950" dirty="0"/>
          </a:p>
        </p:txBody>
      </p:sp>
      <p:sp>
        <p:nvSpPr>
          <p:cNvPr id="53" name="Shape 32">
            <a:extLst>
              <a:ext uri="{FF2B5EF4-FFF2-40B4-BE49-F238E27FC236}">
                <a16:creationId xmlns:a16="http://schemas.microsoft.com/office/drawing/2014/main" id="{863E5149-E8DA-73C8-BD23-41A9A3FB598F}"/>
              </a:ext>
            </a:extLst>
          </p:cNvPr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54" name="Text 33">
            <a:extLst>
              <a:ext uri="{FF2B5EF4-FFF2-40B4-BE49-F238E27FC236}">
                <a16:creationId xmlns:a16="http://schemas.microsoft.com/office/drawing/2014/main" id="{8E913E4B-278E-B95F-5BC8-8B33525B728F}"/>
              </a:ext>
            </a:extLst>
          </p:cNvPr>
          <p:cNvSpPr/>
          <p:nvPr/>
        </p:nvSpPr>
        <p:spPr>
          <a:xfrm>
            <a:off x="365760" y="46451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is high  ·  The causes are understood  ·  The solutions are known  ·  The time to act is now.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5341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9EC2A9-E58F-E731-CF2F-75B8D6858277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01A296-CEC2-2715-DAA4-7267415F645D}"/>
              </a:ext>
            </a:extLst>
          </p:cNvPr>
          <p:cNvSpPr/>
          <p:nvPr/>
        </p:nvSpPr>
        <p:spPr>
          <a:xfrm>
            <a:off x="320040" y="0"/>
            <a:ext cx="91440" cy="514350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3FC769-6BC5-FECA-01DA-2FC62320F41A}"/>
              </a:ext>
            </a:extLst>
          </p:cNvPr>
          <p:cNvSpPr/>
          <p:nvPr/>
        </p:nvSpPr>
        <p:spPr>
          <a:xfrm>
            <a:off x="640080" y="457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Clear. The Solutions Are Known.</a:t>
            </a:r>
            <a:endParaRPr lang="en-US" sz="30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Clear.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833159-9071-AE62-008B-986E8EF3EB4E}"/>
              </a:ext>
            </a:extLst>
          </p:cNvPr>
          <p:cNvSpPr/>
          <p:nvPr/>
        </p:nvSpPr>
        <p:spPr>
          <a:xfrm>
            <a:off x="64008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7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 Requires Coordinated Action.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2DF91CA-6844-F082-ED20-B474BF13900E}"/>
              </a:ext>
            </a:extLst>
          </p:cNvPr>
          <p:cNvSpPr/>
          <p:nvPr/>
        </p:nvSpPr>
        <p:spPr>
          <a:xfrm>
            <a:off x="640080" y="1874520"/>
            <a:ext cx="3840480" cy="100584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6FA5BF5-861B-3668-828F-FE59F7060A4E}"/>
              </a:ext>
            </a:extLst>
          </p:cNvPr>
          <p:cNvSpPr/>
          <p:nvPr/>
        </p:nvSpPr>
        <p:spPr>
          <a:xfrm>
            <a:off x="731520" y="18745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0B8E55-E702-EE94-D945-9BC72C58C9FD}"/>
              </a:ext>
            </a:extLst>
          </p:cNvPr>
          <p:cNvSpPr/>
          <p:nvPr/>
        </p:nvSpPr>
        <p:spPr>
          <a:xfrm>
            <a:off x="114300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Burden is High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00B192-5365-12FC-97FD-B9AA28771F4A}"/>
              </a:ext>
            </a:extLst>
          </p:cNvPr>
          <p:cNvSpPr/>
          <p:nvPr/>
        </p:nvSpPr>
        <p:spPr>
          <a:xfrm>
            <a:off x="1143000" y="2350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336.9M global cases, 15.7M deaths</a:t>
            </a:r>
            <a:endParaRPr lang="en-US" sz="1050" b="1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19F67D7-845D-B309-339F-3D2ED978A529}"/>
              </a:ext>
            </a:extLst>
          </p:cNvPr>
          <p:cNvSpPr/>
          <p:nvPr/>
        </p:nvSpPr>
        <p:spPr>
          <a:xfrm>
            <a:off x="4754880" y="1874520"/>
            <a:ext cx="3840480" cy="100584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0AA2D23-B60E-10AD-F4F6-A06F4BD7DF13}"/>
              </a:ext>
            </a:extLst>
          </p:cNvPr>
          <p:cNvSpPr/>
          <p:nvPr/>
        </p:nvSpPr>
        <p:spPr>
          <a:xfrm>
            <a:off x="4846320" y="18745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C944CC-55F7-A4E4-C20D-12C7409D4B2B}"/>
              </a:ext>
            </a:extLst>
          </p:cNvPr>
          <p:cNvSpPr/>
          <p:nvPr/>
        </p:nvSpPr>
        <p:spPr>
          <a:xfrm>
            <a:off x="5257800" y="1947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Causes are Known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4072DDD-925D-7C95-0F04-ACC824719642}"/>
              </a:ext>
            </a:extLst>
          </p:cNvPr>
          <p:cNvSpPr/>
          <p:nvPr/>
        </p:nvSpPr>
        <p:spPr>
          <a:xfrm>
            <a:off x="5257800" y="23500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HIV/AIDS, Hep-B, HPV, Syphilis drive 80%+ of burden</a:t>
            </a:r>
            <a:endParaRPr lang="en-US" sz="1050" b="1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D82F02C-A7DB-10A2-A1A2-D9F8BA9068B8}"/>
              </a:ext>
            </a:extLst>
          </p:cNvPr>
          <p:cNvSpPr/>
          <p:nvPr/>
        </p:nvSpPr>
        <p:spPr>
          <a:xfrm>
            <a:off x="640080" y="3063240"/>
            <a:ext cx="3840480" cy="100584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18E9D76-4E03-4270-3E33-08EE18E9A9DC}"/>
              </a:ext>
            </a:extLst>
          </p:cNvPr>
          <p:cNvSpPr/>
          <p:nvPr/>
        </p:nvSpPr>
        <p:spPr>
          <a:xfrm>
            <a:off x="731520" y="30632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621708F-F2AB-0466-26AD-DFE1E22414D0}"/>
              </a:ext>
            </a:extLst>
          </p:cNvPr>
          <p:cNvSpPr/>
          <p:nvPr/>
        </p:nvSpPr>
        <p:spPr>
          <a:xfrm>
            <a:off x="114300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Solutions Exist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9B61162-D685-9AD4-CA2A-BC17F301F84F}"/>
              </a:ext>
            </a:extLst>
          </p:cNvPr>
          <p:cNvSpPr/>
          <p:nvPr/>
        </p:nvSpPr>
        <p:spPr>
          <a:xfrm>
            <a:off x="114300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vaccination, treatment access, targeted programs</a:t>
            </a:r>
            <a:endParaRPr lang="en-US" sz="1050" b="1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B97773E-4858-7950-F084-5A46CD07185D}"/>
              </a:ext>
            </a:extLst>
          </p:cNvPr>
          <p:cNvSpPr/>
          <p:nvPr/>
        </p:nvSpPr>
        <p:spPr>
          <a:xfrm>
            <a:off x="4754880" y="3063240"/>
            <a:ext cx="3840480" cy="1005840"/>
          </a:xfrm>
          <a:prstGeom prst="rect">
            <a:avLst/>
          </a:prstGeom>
          <a:solidFill>
            <a:srgbClr val="1E4D34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EDD1EF8-2948-0801-EB79-392842C79BB9}"/>
              </a:ext>
            </a:extLst>
          </p:cNvPr>
          <p:cNvSpPr/>
          <p:nvPr/>
        </p:nvSpPr>
        <p:spPr>
          <a:xfrm>
            <a:off x="4846320" y="306324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33F89F5-1CE6-BC6A-8A44-42E28AE09801}"/>
              </a:ext>
            </a:extLst>
          </p:cNvPr>
          <p:cNvSpPr/>
          <p:nvPr/>
        </p:nvSpPr>
        <p:spPr>
          <a:xfrm>
            <a:off x="525780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Must be Now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CC7A385-23FF-C8E9-6C84-BA218EBF82C4}"/>
              </a:ext>
            </a:extLst>
          </p:cNvPr>
          <p:cNvSpPr/>
          <p:nvPr/>
        </p:nvSpPr>
        <p:spPr>
          <a:xfrm>
            <a:off x="525780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costs lives — each year of inaction deepens the gap</a:t>
            </a:r>
            <a:endParaRPr lang="en-US" sz="1050" b="1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838282C-29DD-D9BE-F584-E9F23D96D37B}"/>
              </a:ext>
            </a:extLst>
          </p:cNvPr>
          <p:cNvSpPr/>
          <p:nvPr/>
        </p:nvSpPr>
        <p:spPr>
          <a:xfrm>
            <a:off x="64008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 now is coordinated, sustained, and precision-driven action.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17779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B46B2-BFBD-9B9B-A870-60B8E06D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1"/>
            <a:ext cx="9144000" cy="510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ACBA11-635B-0857-2E07-B61C5EAD1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76"/>
            <a:ext cx="9144000" cy="509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7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A9B08F-FC6D-462E-EED8-7B04962BE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94"/>
            <a:ext cx="9144000" cy="477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4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1"/>
          <p:cNvSpPr/>
          <p:nvPr/>
        </p:nvSpPr>
        <p:spPr>
          <a:xfrm>
            <a:off x="6400000" y="-1200000"/>
            <a:ext cx="4800000" cy="4800000"/>
          </a:xfrm>
          <a:prstGeom prst="ellipse">
            <a:avLst/>
          </a:prstGeom>
          <a:solidFill>
            <a:srgbClr val="2E8B57">
              <a:alpha val="12000"/>
            </a:srgbClr>
          </a:solidFill>
          <a:ln>
            <a:noFill/>
          </a:ln>
        </p:spPr>
      </p:sp>
      <p:sp>
        <p:nvSpPr>
          <p:cNvPr id="3" name="Circle2"/>
          <p:cNvSpPr/>
          <p:nvPr/>
        </p:nvSpPr>
        <p:spPr>
          <a:xfrm>
            <a:off x="7200000" y="-400000"/>
            <a:ext cx="3000000" cy="3000000"/>
          </a:xfrm>
          <a:prstGeom prst="ellipse">
            <a:avLst/>
          </a:prstGeom>
          <a:solidFill>
            <a:srgbClr val="217346">
              <a:alpha val="18000"/>
            </a:srgbClr>
          </a:solidFill>
          <a:ln>
            <a:noFill/>
          </a:ln>
        </p:spPr>
      </p:sp>
      <p:sp>
        <p:nvSpPr>
          <p:cNvPr id="4" name="Circle3"/>
          <p:cNvSpPr/>
          <p:nvPr/>
        </p:nvSpPr>
        <p:spPr>
          <a:xfrm>
            <a:off x="-800000" y="3600000"/>
            <a:ext cx="2800000" cy="2800000"/>
          </a:xfrm>
          <a:prstGeom prst="ellipse">
            <a:avLst/>
          </a:prstGeom>
          <a:solidFill>
            <a:srgbClr val="2E8B57">
              <a:alpha val="14000"/>
            </a:srgbClr>
          </a:solidFill>
          <a:ln>
            <a:noFill/>
          </a:ln>
        </p:spPr>
      </p:sp>
      <p:sp>
        <p:nvSpPr>
          <p:cNvPr id="5" name="GoldBar"/>
          <p:cNvSpPr/>
          <p:nvPr/>
        </p:nvSpPr>
        <p:spPr>
          <a:xfrm>
            <a:off x="457200" y="2600000"/>
            <a:ext cx="1400000" cy="55000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6" name="ThankYou"/>
          <p:cNvSpPr/>
          <p:nvPr/>
        </p:nvSpPr>
        <p:spPr>
          <a:xfrm>
            <a:off x="457200" y="1600000"/>
            <a:ext cx="82296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</a:rPr>
              <a:t>THANK YOU</a:t>
            </a:r>
          </a:p>
        </p:txBody>
      </p:sp>
      <p:sp>
        <p:nvSpPr>
          <p:cNvPr id="7" name="Tagline"/>
          <p:cNvSpPr/>
          <p:nvPr/>
        </p:nvSpPr>
        <p:spPr>
          <a:xfrm>
            <a:off x="457200" y="2780000"/>
            <a:ext cx="77724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0AD47"/>
                </a:solidFill>
                <a:latin typeface="Calibri Light" pitchFamily="34" charset="0"/>
              </a:rPr>
              <a:t>STD Surveillance Insight  Report  ·  2015–2025</a:t>
            </a:r>
          </a:p>
        </p:txBody>
      </p:sp>
      <p:sp>
        <p:nvSpPr>
          <p:cNvPr id="8" name="FooterBar"/>
          <p:cNvSpPr/>
          <p:nvPr/>
        </p:nvSpPr>
        <p:spPr>
          <a:xfrm>
            <a:off x="0" y="4800000"/>
            <a:ext cx="9144000" cy="343500"/>
          </a:xfrm>
          <a:prstGeom prst="rect">
            <a:avLst/>
          </a:prstGeom>
          <a:solidFill>
            <a:srgbClr val="1E4D34"/>
          </a:solidFill>
          <a:ln>
            <a:noFill/>
          </a:ln>
        </p:spPr>
      </p:sp>
      <p:sp>
        <p:nvSpPr>
          <p:cNvPr id="9" name="FooterText"/>
          <p:cNvSpPr/>
          <p:nvPr/>
        </p:nvSpPr>
        <p:spPr>
          <a:xfrm>
            <a:off x="457200" y="4815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5D6A7"/>
                </a:solidFill>
                <a:latin typeface="Calibri Light" pitchFamily="34" charset="0"/>
              </a:rPr>
              <a:t>The burden is high  ·  The causes are understood  ·  The solutions are known  ·  The time to act is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956</Words>
  <Application>Microsoft Office PowerPoint</Application>
  <PresentationFormat>On-screen Show (16:9)</PresentationFormat>
  <Paragraphs>188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Decade of STD Trends: From Data to Action</dc:title>
  <dc:subject>PptxGenJS Presentation</dc:subject>
  <dc:creator>PptxGenJS</dc:creator>
  <cp:lastModifiedBy>Philip Semexa</cp:lastModifiedBy>
  <cp:revision>6</cp:revision>
  <dcterms:created xsi:type="dcterms:W3CDTF">2026-06-04T08:34:49Z</dcterms:created>
  <dcterms:modified xsi:type="dcterms:W3CDTF">2026-06-04T23:41:19Z</dcterms:modified>
</cp:coreProperties>
</file>